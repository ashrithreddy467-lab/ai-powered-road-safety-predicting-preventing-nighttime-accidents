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bhaya Libre" charset="1" panose="02000503000000000000"/>
      <p:regular r:id="rId25"/>
    </p:embeddedFont>
    <p:embeddedFont>
      <p:font typeface="Abhaya Libre Bold" charset="1" panose="02000803000000000000"/>
      <p:regular r:id="rId26"/>
    </p:embeddedFont>
    <p:embeddedFont>
      <p:font typeface="Arimo" charset="1" panose="020B0604020202020204"/>
      <p:regular r:id="rId28"/>
    </p:embeddedFont>
    <p:embeddedFont>
      <p:font typeface="Glacial Indifference" charset="1" panose="00000000000000000000"/>
      <p:regular r:id="rId30"/>
    </p:embeddedFont>
    <p:embeddedFont>
      <p:font typeface="Arimo Bold" charset="1" panose="020B0704020202020204"/>
      <p:regular r:id="rId32"/>
    </p:embeddedFont>
    <p:embeddedFont>
      <p:font typeface="Open Sauce" charset="1" panose="00000500000000000000"/>
      <p:regular r:id="rId33"/>
    </p:embeddedFont>
    <p:embeddedFont>
      <p:font typeface="Open Sauce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4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698448" y="5323075"/>
            <a:ext cx="2289600" cy="3279000"/>
            <a:chOff x="0" y="0"/>
            <a:chExt cx="3052801" cy="437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2826" cy="4371975"/>
            </a:xfrm>
            <a:custGeom>
              <a:avLst/>
              <a:gdLst/>
              <a:ahLst/>
              <a:cxnLst/>
              <a:rect r="r" b="b" t="t" l="l"/>
              <a:pathLst>
                <a:path h="4371975" w="3052826">
                  <a:moveTo>
                    <a:pt x="3052826" y="0"/>
                  </a:moveTo>
                  <a:lnTo>
                    <a:pt x="0" y="0"/>
                  </a:lnTo>
                  <a:lnTo>
                    <a:pt x="0" y="4371975"/>
                  </a:lnTo>
                  <a:lnTo>
                    <a:pt x="3052826" y="4371975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2735601" y="-4877"/>
            <a:ext cx="5552399" cy="5552399"/>
            <a:chOff x="0" y="0"/>
            <a:chExt cx="7403198" cy="74031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3211" cy="7403211"/>
            </a:xfrm>
            <a:custGeom>
              <a:avLst/>
              <a:gdLst/>
              <a:ahLst/>
              <a:cxnLst/>
              <a:rect r="r" b="b" t="t" l="l"/>
              <a:pathLst>
                <a:path h="7403211" w="7403211">
                  <a:moveTo>
                    <a:pt x="0" y="0"/>
                  </a:moveTo>
                  <a:lnTo>
                    <a:pt x="3701542" y="0"/>
                  </a:lnTo>
                  <a:cubicBezTo>
                    <a:pt x="5745988" y="0"/>
                    <a:pt x="7403211" y="1657223"/>
                    <a:pt x="7403211" y="3701542"/>
                  </a:cubicBezTo>
                  <a:lnTo>
                    <a:pt x="7403211" y="7403211"/>
                  </a:lnTo>
                  <a:lnTo>
                    <a:pt x="0" y="7403211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257146" y="-4896"/>
            <a:ext cx="1354798" cy="5826604"/>
            <a:chOff x="0" y="0"/>
            <a:chExt cx="1806397" cy="7768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6448" cy="7768844"/>
            </a:xfrm>
            <a:custGeom>
              <a:avLst/>
              <a:gdLst/>
              <a:ahLst/>
              <a:cxnLst/>
              <a:rect r="r" b="b" t="t" l="l"/>
              <a:pathLst>
                <a:path h="7768844" w="1806448">
                  <a:moveTo>
                    <a:pt x="1806448" y="0"/>
                  </a:moveTo>
                  <a:lnTo>
                    <a:pt x="0" y="0"/>
                  </a:lnTo>
                  <a:lnTo>
                    <a:pt x="0" y="7768844"/>
                  </a:lnTo>
                  <a:lnTo>
                    <a:pt x="1806448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0816504" y="283369"/>
            <a:ext cx="2988602" cy="973198"/>
            <a:chOff x="0" y="0"/>
            <a:chExt cx="3984803" cy="1297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4752" cy="1297559"/>
            </a:xfrm>
            <a:custGeom>
              <a:avLst/>
              <a:gdLst/>
              <a:ahLst/>
              <a:cxnLst/>
              <a:rect r="r" b="b" t="t" l="l"/>
              <a:pathLst>
                <a:path h="1297559" w="3984752">
                  <a:moveTo>
                    <a:pt x="3984752" y="0"/>
                  </a:moveTo>
                  <a:lnTo>
                    <a:pt x="0" y="0"/>
                  </a:lnTo>
                  <a:lnTo>
                    <a:pt x="0" y="1297559"/>
                  </a:lnTo>
                  <a:lnTo>
                    <a:pt x="3984752" y="1297559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sp>
        <p:nvSpPr>
          <p:cNvPr name="AutoShape 10" id="10"/>
          <p:cNvSpPr/>
          <p:nvPr/>
        </p:nvSpPr>
        <p:spPr>
          <a:xfrm rot="5392500">
            <a:off x="12760814" y="4328293"/>
            <a:ext cx="8720871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9600">
            <a:off x="10305907" y="765191"/>
            <a:ext cx="682487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-10800000">
            <a:off x="12461396" y="8602075"/>
            <a:ext cx="5826604" cy="1192197"/>
            <a:chOff x="0" y="0"/>
            <a:chExt cx="7768806" cy="15895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68844" cy="1589659"/>
            </a:xfrm>
            <a:custGeom>
              <a:avLst/>
              <a:gdLst/>
              <a:ahLst/>
              <a:cxnLst/>
              <a:rect r="r" b="b" t="t" l="l"/>
              <a:pathLst>
                <a:path h="1589659" w="7768844">
                  <a:moveTo>
                    <a:pt x="7768844" y="0"/>
                  </a:moveTo>
                  <a:lnTo>
                    <a:pt x="0" y="0"/>
                  </a:lnTo>
                  <a:lnTo>
                    <a:pt x="0" y="1589659"/>
                  </a:lnTo>
                  <a:lnTo>
                    <a:pt x="7768844" y="1589659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sp>
        <p:nvSpPr>
          <p:cNvPr name="AutoShape 14" id="14"/>
          <p:cNvSpPr/>
          <p:nvPr/>
        </p:nvSpPr>
        <p:spPr>
          <a:xfrm rot="5392500">
            <a:off x="-3921690" y="4346153"/>
            <a:ext cx="8720871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928898" y="1646250"/>
            <a:ext cx="10677032" cy="6627416"/>
            <a:chOff x="0" y="0"/>
            <a:chExt cx="14236042" cy="88365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36038" cy="8836555"/>
            </a:xfrm>
            <a:custGeom>
              <a:avLst/>
              <a:gdLst/>
              <a:ahLst/>
              <a:cxnLst/>
              <a:rect r="r" b="b" t="t" l="l"/>
              <a:pathLst>
                <a:path h="8836555" w="14236038">
                  <a:moveTo>
                    <a:pt x="0" y="0"/>
                  </a:moveTo>
                  <a:lnTo>
                    <a:pt x="14236038" y="0"/>
                  </a:lnTo>
                  <a:lnTo>
                    <a:pt x="14236038" y="8836555"/>
                  </a:lnTo>
                  <a:lnTo>
                    <a:pt x="0" y="8836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133" t="0" r="-8259" b="80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4236042" cy="880797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54"/>
                </a:lnSpc>
              </a:pPr>
              <a:r>
                <a:rPr lang="en-US" sz="6100">
                  <a:solidFill>
                    <a:srgbClr val="3A3730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Crowd-Sourc</a:t>
              </a:r>
              <a:r>
                <a:rPr lang="en-US" sz="6100">
                  <a:solidFill>
                    <a:srgbClr val="3A3730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ed Road Hazard Detection &amp; Driver Alert System</a:t>
              </a:r>
            </a:p>
            <a:p>
              <a:pPr algn="l">
                <a:lnSpc>
                  <a:spcPts val="6042"/>
                </a:lnSpc>
              </a:pPr>
            </a:p>
            <a:p>
              <a:pPr algn="l">
                <a:lnSpc>
                  <a:spcPts val="5472"/>
                </a:lnSpc>
              </a:pPr>
              <a:r>
                <a:rPr lang="en-US" b="true" sz="4800">
                  <a:solidFill>
                    <a:srgbClr val="FEFAF4"/>
                  </a:solidFill>
                  <a:latin typeface="Abhaya Libre Bold"/>
                  <a:ea typeface="Abhaya Libre Bold"/>
                  <a:cs typeface="Abhaya Libre Bold"/>
                  <a:sym typeface="Abhaya Libre Bold"/>
                </a:rPr>
                <a:t> </a:t>
              </a:r>
              <a:r>
                <a:rPr lang="en-US" sz="4800">
                  <a:solidFill>
                    <a:srgbClr val="6F7067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ALGOMATH DATATHON 2026</a:t>
              </a:r>
            </a:p>
            <a:p>
              <a:pPr algn="l">
                <a:lnSpc>
                  <a:spcPts val="5472"/>
                </a:lnSpc>
              </a:pPr>
              <a:r>
                <a:rPr lang="en-US" sz="4800">
                  <a:solidFill>
                    <a:srgbClr val="6F7067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 Review-2: Mathematical Foundation &amp; Implementation</a:t>
              </a:r>
            </a:p>
            <a:p>
              <a:pPr algn="l">
                <a:lnSpc>
                  <a:spcPts val="501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105973" y="1079002"/>
            <a:ext cx="2714396" cy="818998"/>
            <a:chOff x="0" y="0"/>
            <a:chExt cx="3619195" cy="10919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19200" cy="1092000"/>
            </a:xfrm>
            <a:custGeom>
              <a:avLst/>
              <a:gdLst/>
              <a:ahLst/>
              <a:cxnLst/>
              <a:rect r="r" b="b" t="t" l="l"/>
              <a:pathLst>
                <a:path h="1092000" w="3619200">
                  <a:moveTo>
                    <a:pt x="0" y="0"/>
                  </a:moveTo>
                  <a:lnTo>
                    <a:pt x="3619200" y="0"/>
                  </a:lnTo>
                  <a:lnTo>
                    <a:pt x="3619200" y="1092000"/>
                  </a:lnTo>
                  <a:lnTo>
                    <a:pt x="0" y="109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79" r="0" b="-1457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619195" cy="1101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EFAF4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2XXX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3111922" y="1160897"/>
            <a:ext cx="12063746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Pro</a:t>
            </a:r>
            <a:r>
              <a:rPr lang="en-US" b="true" sz="6000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blem Statement</a:t>
            </a:r>
          </a:p>
          <a:p>
            <a:pPr algn="ctr">
              <a:lnSpc>
                <a:spcPts val="7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36173" y="3410445"/>
            <a:ext cx="15215549" cy="55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</a:p>
          <a:p>
            <a:pPr algn="l" marL="1693576" indent="-846788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Drivers oft</a:t>
            </a:r>
            <a:r>
              <a:rPr lang="en-US" sz="4599" u="none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en enc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ounter:</a:t>
            </a:r>
          </a:p>
          <a:p>
            <a:pPr algn="l" marL="1693576" indent="-846788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Sudden road blocks</a:t>
            </a:r>
          </a:p>
          <a:p>
            <a:pPr algn="l" marL="1693576" indent="-846788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Construction zones</a:t>
            </a:r>
          </a:p>
          <a:p>
            <a:pPr algn="l" marL="1693576" indent="-846788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Accident-prone roads</a:t>
            </a:r>
          </a:p>
          <a:p>
            <a:pPr algn="l" marL="1693576" indent="-846788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These hazards are kn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own to locals or recent drivers, but not to others.</a:t>
            </a:r>
          </a:p>
          <a:p>
            <a:pPr algn="l" marL="3446739" indent="-1148913" lvl="2">
              <a:lnSpc>
                <a:spcPts val="55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0" y="1019175"/>
            <a:ext cx="12063746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9"/>
              </a:lnSpc>
            </a:pPr>
            <a:r>
              <a:rPr lang="en-US" b="true" sz="72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Propos</a:t>
            </a:r>
            <a:r>
              <a:rPr lang="en-US" b="true" sz="72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ed Solution</a:t>
            </a:r>
          </a:p>
          <a:p>
            <a:pPr algn="ctr">
              <a:lnSpc>
                <a:spcPts val="8759"/>
              </a:lnSpc>
            </a:pPr>
            <a:r>
              <a:rPr lang="en-US" b="true" sz="72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(What Our App Is)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3751" y="3505200"/>
            <a:ext cx="15215549" cy="55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 Road Intelligence App that: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Coll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ects hazard rep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orts from users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Analyzes risk mathematically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Alerts upcoming drivers in advance</a:t>
            </a:r>
          </a:p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sz="4599">
                <a:solidFill>
                  <a:srgbClr val="3A37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🧠 Focus: Prevention through information</a:t>
            </a:r>
          </a:p>
          <a:p>
            <a:pPr algn="l" marL="3446739" indent="-1148913" lvl="2">
              <a:lnSpc>
                <a:spcPts val="55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38598" y="1804121"/>
            <a:ext cx="12063746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Inputs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to the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3751" y="2841894"/>
            <a:ext cx="15215549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User-provided data:</a:t>
            </a:r>
          </a:p>
          <a:p>
            <a:pPr algn="l">
              <a:lnSpc>
                <a:spcPts val="5519"/>
              </a:lnSpc>
            </a:pP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H</a:t>
            </a: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azard Type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 (C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onstruction / Blocked / Accident)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Severity Level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 (1–5)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Time of Day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 (Day / Night)</a:t>
            </a:r>
          </a:p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sz="4599">
                <a:solidFill>
                  <a:srgbClr val="3A3730"/>
                </a:solidFill>
                <a:latin typeface="Open Sauce"/>
                <a:ea typeface="Open Sauce"/>
                <a:cs typeface="Open Sauce"/>
                <a:sym typeface="Open Sauce"/>
              </a:rPr>
              <a:t>📌</a:t>
            </a:r>
            <a:r>
              <a:rPr lang="en-US" b="true" sz="4599">
                <a:solidFill>
                  <a:srgbClr val="3A37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These inputs directly affect road safety risk.</a:t>
            </a:r>
          </a:p>
          <a:p>
            <a:pPr algn="l" marL="3446739" indent="-1148913" lvl="2">
              <a:lnSpc>
                <a:spcPts val="55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38598" y="1804121"/>
            <a:ext cx="12063746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Output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of the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3751" y="2841894"/>
            <a:ext cx="15215549" cy="698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The sy</a:t>
            </a: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stem predicts: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🟢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 Green – Safe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🟡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 Yellow – Caution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🔴 Red – High Risk</a:t>
            </a:r>
          </a:p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Also</a:t>
            </a: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 generates: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Confidence score (0–1)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Driver alert message</a:t>
            </a:r>
          </a:p>
          <a:p>
            <a:pPr algn="l" marL="3446739" indent="-1148913" lvl="2">
              <a:lnSpc>
                <a:spcPts val="55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38598" y="1019175"/>
            <a:ext cx="159082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Why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Mathematics Is Needed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3751" y="2841894"/>
            <a:ext cx="15215549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Raw user reports are: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Subjective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Inconsist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ent</a:t>
            </a: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Math helps us: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Convert opinions → numbers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Compare different hazards fairly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Generate consistent decisions</a:t>
            </a:r>
          </a:p>
          <a:p>
            <a:pPr algn="l" marL="3446739" indent="-1148913" lvl="2">
              <a:lnSpc>
                <a:spcPts val="55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3166196"/>
            <a:ext cx="16443548" cy="6269102"/>
          </a:xfrm>
          <a:custGeom>
            <a:avLst/>
            <a:gdLst/>
            <a:ahLst/>
            <a:cxnLst/>
            <a:rect r="r" b="b" t="t" l="l"/>
            <a:pathLst>
              <a:path h="6269102" w="16443548">
                <a:moveTo>
                  <a:pt x="0" y="0"/>
                </a:moveTo>
                <a:lnTo>
                  <a:pt x="16443548" y="0"/>
                </a:lnTo>
                <a:lnTo>
                  <a:pt x="16443548" y="6269102"/>
                </a:lnTo>
                <a:lnTo>
                  <a:pt x="0" y="6269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8598" y="1019175"/>
            <a:ext cx="159082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Core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Risk Equation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38598" y="1019175"/>
            <a:ext cx="159082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Why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Bias (b) Is Used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69655" y="2144822"/>
            <a:ext cx="15215549" cy="767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Bias shifts the decisio</a:t>
            </a: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n boundary.</a:t>
            </a:r>
          </a:p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Without bias: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very road looks risky</a:t>
            </a:r>
          </a:p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With</a:t>
            </a: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 bias: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Only serious hazards become 🔴 Red</a:t>
            </a:r>
          </a:p>
          <a:p>
            <a:pPr algn="l">
              <a:lnSpc>
                <a:spcPts val="5519"/>
              </a:lnSpc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📌 Bias ensures realistic risk prediction</a:t>
            </a:r>
          </a:p>
          <a:p>
            <a:pPr algn="l">
              <a:lnSpc>
                <a:spcPts val="5519"/>
              </a:lnSpc>
            </a:pPr>
          </a:p>
          <a:p>
            <a:pPr algn="l" marL="3446739" indent="-1148913" lvl="2">
              <a:lnSpc>
                <a:spcPts val="55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274875" y="3397722"/>
            <a:ext cx="13765929" cy="5265468"/>
          </a:xfrm>
          <a:custGeom>
            <a:avLst/>
            <a:gdLst/>
            <a:ahLst/>
            <a:cxnLst/>
            <a:rect r="r" b="b" t="t" l="l"/>
            <a:pathLst>
              <a:path h="5265468" w="13765929">
                <a:moveTo>
                  <a:pt x="0" y="0"/>
                </a:moveTo>
                <a:lnTo>
                  <a:pt x="13765930" y="0"/>
                </a:lnTo>
                <a:lnTo>
                  <a:pt x="13765930" y="5265468"/>
                </a:lnTo>
                <a:lnTo>
                  <a:pt x="0" y="5265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58297" y="1379659"/>
            <a:ext cx="159082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Sigmo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id Function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38598" y="1019175"/>
            <a:ext cx="159082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Why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Sigmoid Is Needed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3751" y="2841894"/>
            <a:ext cx="15215549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Risk is not binary.</a:t>
            </a:r>
          </a:p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Sigmoid</a:t>
            </a: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 allows: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Smo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oth decision making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Gradual increase in alert strength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Confidence estimation</a:t>
            </a:r>
          </a:p>
          <a:p>
            <a:pPr algn="l">
              <a:lnSpc>
                <a:spcPts val="5519"/>
              </a:lnSpc>
            </a:pPr>
          </a:p>
          <a:p>
            <a:pPr algn="l" marL="3446739" indent="-1148913" lvl="2">
              <a:lnSpc>
                <a:spcPts val="55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148083" y="3397722"/>
            <a:ext cx="13991834" cy="5316897"/>
          </a:xfrm>
          <a:custGeom>
            <a:avLst/>
            <a:gdLst/>
            <a:ahLst/>
            <a:cxnLst/>
            <a:rect r="r" b="b" t="t" l="l"/>
            <a:pathLst>
              <a:path h="5316897" w="13991834">
                <a:moveTo>
                  <a:pt x="0" y="0"/>
                </a:moveTo>
                <a:lnTo>
                  <a:pt x="13991834" y="0"/>
                </a:lnTo>
                <a:lnTo>
                  <a:pt x="13991834" y="5316897"/>
                </a:lnTo>
                <a:lnTo>
                  <a:pt x="0" y="5316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89900" y="1307516"/>
            <a:ext cx="159082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39"/>
              </a:lnSpc>
            </a:pPr>
            <a:r>
              <a:rPr lang="en-US" b="true" sz="71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Mult</a:t>
            </a:r>
            <a:r>
              <a:rPr lang="en-US" b="true" sz="71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i-Class Risk Classification (SoftMax)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351100" y="1146260"/>
            <a:ext cx="159082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19"/>
              </a:lnSpc>
            </a:pPr>
            <a:r>
              <a:rPr lang="en-US" b="true" sz="80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Working</a:t>
            </a:r>
            <a:r>
              <a:rPr lang="en-US" b="true" sz="80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Mechanism (Step-by-Step)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3425" y="2778523"/>
            <a:ext cx="15215549" cy="620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9"/>
              </a:lnSpc>
            </a:pPr>
          </a:p>
          <a:p>
            <a:pPr algn="l" marL="1101075" indent="-550538" lvl="1">
              <a:lnSpc>
                <a:spcPts val="6119"/>
              </a:lnSpc>
              <a:buAutoNum type="arabicPeriod" startAt="1"/>
            </a:pP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User reports road conditio</a:t>
            </a: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</a:p>
          <a:p>
            <a:pPr algn="l" marL="1101075" indent="-550538" lvl="1">
              <a:lnSpc>
                <a:spcPts val="6119"/>
              </a:lnSpc>
              <a:buAutoNum type="arabicPeriod" startAt="1"/>
            </a:pP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Haz</a:t>
            </a: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ard weight is selected</a:t>
            </a:r>
          </a:p>
          <a:p>
            <a:pPr algn="l" marL="1101075" indent="-550538" lvl="1">
              <a:lnSpc>
                <a:spcPts val="6119"/>
              </a:lnSpc>
              <a:buAutoNum type="arabicPeriod" startAt="1"/>
            </a:pP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Risk score z is calculated</a:t>
            </a:r>
          </a:p>
          <a:p>
            <a:pPr algn="l" marL="1101075" indent="-550538" lvl="1">
              <a:lnSpc>
                <a:spcPts val="6119"/>
              </a:lnSpc>
              <a:buAutoNum type="arabicPeriod" startAt="1"/>
            </a:pP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Sigm</a:t>
            </a: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oid estimates danger probability</a:t>
            </a:r>
          </a:p>
          <a:p>
            <a:pPr algn="l" marL="1101075" indent="-550538" lvl="1">
              <a:lnSpc>
                <a:spcPts val="6119"/>
              </a:lnSpc>
              <a:buAutoNum type="arabicPeriod" startAt="1"/>
            </a:pP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Softmax selects risk category</a:t>
            </a:r>
          </a:p>
          <a:p>
            <a:pPr algn="l" marL="1101075" indent="-550538" lvl="1">
              <a:lnSpc>
                <a:spcPts val="6119"/>
              </a:lnSpc>
              <a:buAutoNum type="arabicPeriod" startAt="1"/>
            </a:pP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Al</a:t>
            </a:r>
            <a:r>
              <a:rPr lang="en-US" sz="5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ert is sent to driver</a:t>
            </a:r>
          </a:p>
          <a:p>
            <a:pPr algn="l" marL="3821379" indent="-1273793" lvl="2">
              <a:lnSpc>
                <a:spcPts val="61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38598" y="357073"/>
            <a:ext cx="15908200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</a:p>
          <a:p>
            <a:pPr algn="ctr">
              <a:lnSpc>
                <a:spcPts val="10679"/>
              </a:lnSpc>
            </a:pP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y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thon Implementation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69655" y="3137621"/>
            <a:ext cx="15215549" cy="55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Lang</a:t>
            </a: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uage: Python</a:t>
            </a: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Libr</a:t>
            </a: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aries Used: math</a:t>
            </a:r>
          </a:p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K</a:t>
            </a: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ey functions: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sigmoid(z)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softmax(z)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b="true" sz="4599">
                <a:solidFill>
                  <a:srgbClr val="3A3730"/>
                </a:solidFill>
                <a:latin typeface="Arimo Bold"/>
                <a:ea typeface="Arimo Bold"/>
                <a:cs typeface="Arimo Bold"/>
                <a:sym typeface="Arimo Bold"/>
              </a:rPr>
              <a:t>analyze_safety()</a:t>
            </a:r>
          </a:p>
          <a:p>
            <a:pPr algn="l" marL="3446739" indent="-1148913" lvl="2">
              <a:lnSpc>
                <a:spcPts val="55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444800" y="3378672"/>
            <a:ext cx="15215549" cy="375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To</a:t>
            </a:r>
            <a:r>
              <a:rPr lang="en-US" sz="3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 convert the rule-based model into a learning system, we use a loss function duri</a:t>
            </a:r>
            <a:r>
              <a:rPr lang="en-US" sz="3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ng training.</a:t>
            </a:r>
          </a:p>
          <a:p>
            <a:pPr algn="l">
              <a:lnSpc>
                <a:spcPts val="3719"/>
              </a:lnSpc>
            </a:pP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he loss function compares the predicted risk probability with the true risk label provided in historical data.</a:t>
            </a:r>
          </a:p>
          <a:p>
            <a:pPr algn="l">
              <a:lnSpc>
                <a:spcPts val="3719"/>
              </a:lnSpc>
            </a:pP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Binary Cross Entropy Loss is used to measure prediction error.</a:t>
            </a:r>
          </a:p>
          <a:p>
            <a:pPr algn="l" marL="2322817" indent="-774272" lvl="2">
              <a:lnSpc>
                <a:spcPts val="3719"/>
              </a:lnSpc>
              <a:buFont typeface="Arial"/>
              <a:buChar char="⚬"/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748800" y="7368707"/>
            <a:ext cx="10790400" cy="1298844"/>
          </a:xfrm>
          <a:custGeom>
            <a:avLst/>
            <a:gdLst/>
            <a:ahLst/>
            <a:cxnLst/>
            <a:rect r="r" b="b" t="t" l="l"/>
            <a:pathLst>
              <a:path h="1298844" w="10790400">
                <a:moveTo>
                  <a:pt x="0" y="0"/>
                </a:moveTo>
                <a:lnTo>
                  <a:pt x="10790400" y="0"/>
                </a:lnTo>
                <a:lnTo>
                  <a:pt x="10790400" y="1298844"/>
                </a:lnTo>
                <a:lnTo>
                  <a:pt x="0" y="12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449800"/>
            <a:ext cx="1587891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96"/>
              </a:lnSpc>
            </a:pPr>
            <a:r>
              <a:rPr lang="en-US" b="true" sz="6830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Loss</a:t>
            </a:r>
            <a:r>
              <a:rPr lang="en-US" b="true" sz="6830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Function (Conceptual Training Phase)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38598" y="1019175"/>
            <a:ext cx="159082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Fu</a:t>
            </a:r>
            <a:r>
              <a:rPr lang="en-US" b="true" sz="8899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ture Scope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3751" y="2841894"/>
            <a:ext cx="15215549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Tra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n weights using real data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Add GPS &amp; map integration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mergency service alerts</a:t>
            </a:r>
          </a:p>
          <a:p>
            <a:pPr algn="l" marL="993128" indent="-496564" lvl="1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W</a:t>
            </a:r>
            <a:r>
              <a:rPr lang="en-US" sz="4599">
                <a:solidFill>
                  <a:srgbClr val="3A3730"/>
                </a:solidFill>
                <a:latin typeface="Arimo"/>
                <a:ea typeface="Arimo"/>
                <a:cs typeface="Arimo"/>
                <a:sym typeface="Arimo"/>
              </a:rPr>
              <a:t>earable device integration</a:t>
            </a:r>
          </a:p>
          <a:p>
            <a:pPr algn="l" marL="3446739" indent="-1148913" lvl="2">
              <a:lnSpc>
                <a:spcPts val="551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001"/>
            <a:ext cx="1444800" cy="1444800"/>
            <a:chOff x="0" y="0"/>
            <a:chExt cx="1926400" cy="19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463" cy="1926336"/>
            </a:xfrm>
            <a:custGeom>
              <a:avLst/>
              <a:gdLst/>
              <a:ahLst/>
              <a:cxnLst/>
              <a:rect r="r" b="b" t="t" l="l"/>
              <a:pathLst>
                <a:path h="1926336" w="1926463">
                  <a:moveTo>
                    <a:pt x="1926463" y="0"/>
                  </a:moveTo>
                  <a:lnTo>
                    <a:pt x="963168" y="0"/>
                  </a:lnTo>
                  <a:cubicBezTo>
                    <a:pt x="431292" y="0"/>
                    <a:pt x="0" y="431292"/>
                    <a:pt x="0" y="963168"/>
                  </a:cubicBezTo>
                  <a:lnTo>
                    <a:pt x="0" y="1926336"/>
                  </a:lnTo>
                  <a:lnTo>
                    <a:pt x="1926463" y="1926336"/>
                  </a:lnTo>
                  <a:close/>
                </a:path>
              </a:pathLst>
            </a:custGeom>
            <a:solidFill>
              <a:srgbClr val="C9B0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85204" y="0"/>
            <a:ext cx="802796" cy="3166196"/>
            <a:chOff x="0" y="0"/>
            <a:chExt cx="1070394" cy="4221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356" cy="4221607"/>
            </a:xfrm>
            <a:custGeom>
              <a:avLst/>
              <a:gdLst/>
              <a:ahLst/>
              <a:cxnLst/>
              <a:rect r="r" b="b" t="t" l="l"/>
              <a:pathLst>
                <a:path h="4221607" w="1070356">
                  <a:moveTo>
                    <a:pt x="0" y="0"/>
                  </a:moveTo>
                  <a:lnTo>
                    <a:pt x="1070356" y="0"/>
                  </a:lnTo>
                  <a:lnTo>
                    <a:pt x="1070356" y="4221607"/>
                  </a:lnTo>
                  <a:lnTo>
                    <a:pt x="0" y="4221607"/>
                  </a:lnTo>
                  <a:close/>
                </a:path>
              </a:pathLst>
            </a:custGeom>
            <a:solidFill>
              <a:srgbClr val="B7B9A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158297" y="0"/>
            <a:ext cx="4735801" cy="733196"/>
            <a:chOff x="0" y="0"/>
            <a:chExt cx="6314402" cy="977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440" cy="977646"/>
            </a:xfrm>
            <a:custGeom>
              <a:avLst/>
              <a:gdLst/>
              <a:ahLst/>
              <a:cxnLst/>
              <a:rect r="r" b="b" t="t" l="l"/>
              <a:pathLst>
                <a:path h="977646" w="6314440">
                  <a:moveTo>
                    <a:pt x="0" y="0"/>
                  </a:moveTo>
                  <a:lnTo>
                    <a:pt x="6314440" y="0"/>
                  </a:lnTo>
                  <a:lnTo>
                    <a:pt x="6314440" y="977646"/>
                  </a:lnTo>
                  <a:lnTo>
                    <a:pt x="0" y="977646"/>
                  </a:lnTo>
                  <a:close/>
                </a:path>
              </a:pathLst>
            </a:custGeom>
            <a:solidFill>
              <a:srgbClr val="6F7067"/>
            </a:solidFill>
          </p:spPr>
        </p:sp>
      </p:grpSp>
      <p:sp>
        <p:nvSpPr>
          <p:cNvPr name="AutoShape 8" id="8"/>
          <p:cNvSpPr/>
          <p:nvPr/>
        </p:nvSpPr>
        <p:spPr>
          <a:xfrm rot="5380800">
            <a:off x="16182946" y="1689335"/>
            <a:ext cx="3407302" cy="0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4455404"/>
            <a:ext cx="877195" cy="5826604"/>
            <a:chOff x="0" y="0"/>
            <a:chExt cx="1169594" cy="7768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9543" cy="7768844"/>
            </a:xfrm>
            <a:custGeom>
              <a:avLst/>
              <a:gdLst/>
              <a:ahLst/>
              <a:cxnLst/>
              <a:rect r="r" b="b" t="t" l="l"/>
              <a:pathLst>
                <a:path h="7768844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7768844"/>
                  </a:lnTo>
                  <a:lnTo>
                    <a:pt x="0" y="7768844"/>
                  </a:lnTo>
                  <a:close/>
                </a:path>
              </a:pathLst>
            </a:custGeom>
            <a:solidFill>
              <a:srgbClr val="9A7A6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-2484244" y="7363939"/>
            <a:ext cx="5845683" cy="9525"/>
          </a:xfrm>
          <a:prstGeom prst="line">
            <a:avLst/>
          </a:prstGeom>
          <a:ln cap="rnd" w="9525">
            <a:solidFill>
              <a:srgbClr val="FEFA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351100" y="3971925"/>
            <a:ext cx="15908200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7"/>
              </a:lnSpc>
            </a:pPr>
            <a:r>
              <a:rPr lang="en-US" b="true" sz="15398">
                <a:solidFill>
                  <a:srgbClr val="3A373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DAHAp-oP8XI</dc:identifier>
  <dcterms:modified xsi:type="dcterms:W3CDTF">2011-08-01T06:04:30Z</dcterms:modified>
  <cp:revision>1</cp:revision>
  <dc:title>Crowd-Sourced Road Hazard Detection &amp; Driver Alert System review 2</dc:title>
</cp:coreProperties>
</file>