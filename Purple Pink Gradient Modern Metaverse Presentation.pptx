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Garet Bold" charset="1" panose="00000000000000000000"/>
      <p:regular r:id="rId18"/>
    </p:embeddedFont>
    <p:embeddedFont>
      <p:font typeface="Garet" charset="1" panose="00000000000000000000"/>
      <p:regular r:id="rId19"/>
    </p:embeddedFont>
    <p:embeddedFont>
      <p:font typeface="Poppin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56" t="0" r="-2479" b="-1848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04823" y="-898106"/>
            <a:ext cx="4404437" cy="5655778"/>
          </a:xfrm>
          <a:custGeom>
            <a:avLst/>
            <a:gdLst/>
            <a:ahLst/>
            <a:cxnLst/>
            <a:rect r="r" b="b" t="t" l="l"/>
            <a:pathLst>
              <a:path h="5655778" w="4404437">
                <a:moveTo>
                  <a:pt x="0" y="0"/>
                </a:moveTo>
                <a:lnTo>
                  <a:pt x="4404437" y="0"/>
                </a:lnTo>
                <a:lnTo>
                  <a:pt x="4404437" y="5655778"/>
                </a:lnTo>
                <a:lnTo>
                  <a:pt x="0" y="5655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53346" y="1320942"/>
            <a:ext cx="2410884" cy="608841"/>
            <a:chOff x="0" y="0"/>
            <a:chExt cx="1609259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09259" cy="406400"/>
            </a:xfrm>
            <a:custGeom>
              <a:avLst/>
              <a:gdLst/>
              <a:ahLst/>
              <a:cxnLst/>
              <a:rect r="r" b="b" t="t" l="l"/>
              <a:pathLst>
                <a:path h="406400" w="1609259">
                  <a:moveTo>
                    <a:pt x="1406059" y="0"/>
                  </a:moveTo>
                  <a:cubicBezTo>
                    <a:pt x="1518283" y="0"/>
                    <a:pt x="1609259" y="90976"/>
                    <a:pt x="1609259" y="203200"/>
                  </a:cubicBezTo>
                  <a:cubicBezTo>
                    <a:pt x="1609259" y="315424"/>
                    <a:pt x="1518283" y="406400"/>
                    <a:pt x="140605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1609259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5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0">
            <a:off x="15998318" y="9036632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6551518" y="9036632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42613" y="2931429"/>
            <a:ext cx="12002775" cy="2490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2"/>
              </a:lnSpc>
              <a:spcBef>
                <a:spcPct val="0"/>
              </a:spcBef>
            </a:pPr>
            <a:r>
              <a:rPr lang="en-US" b="true" sz="471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AI-POWERED ROAD SAFETY: PREDICTING &amp; PREVENTING NIGHTTIME ACCIDENTS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05783" y="5592460"/>
            <a:ext cx="14476435" cy="265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7"/>
              </a:lnSpc>
              <a:spcBef>
                <a:spcPct val="0"/>
              </a:spcBef>
            </a:pPr>
            <a:r>
              <a:rPr lang="en-US" sz="1562" spc="1250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ALGOMATH DATATHON-2026 – REVIEW-1 SUBMISSION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77827" y="1507692"/>
            <a:ext cx="2386403" cy="25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5"/>
              </a:lnSpc>
              <a:spcBef>
                <a:spcPct val="0"/>
              </a:spcBef>
            </a:pPr>
            <a:r>
              <a:rPr lang="en-US" sz="1603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ROAD SAFE HUB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7384997">
            <a:off x="-594215" y="-1991275"/>
            <a:ext cx="4404437" cy="5655778"/>
          </a:xfrm>
          <a:custGeom>
            <a:avLst/>
            <a:gdLst/>
            <a:ahLst/>
            <a:cxnLst/>
            <a:rect r="r" b="b" t="t" l="l"/>
            <a:pathLst>
              <a:path h="5655778" w="4404437">
                <a:moveTo>
                  <a:pt x="0" y="0"/>
                </a:moveTo>
                <a:lnTo>
                  <a:pt x="4404437" y="0"/>
                </a:lnTo>
                <a:lnTo>
                  <a:pt x="4404437" y="5655777"/>
                </a:lnTo>
                <a:lnTo>
                  <a:pt x="0" y="5655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56" t="0" r="-2479" b="-1848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04823" y="-898106"/>
            <a:ext cx="4404437" cy="5655778"/>
          </a:xfrm>
          <a:custGeom>
            <a:avLst/>
            <a:gdLst/>
            <a:ahLst/>
            <a:cxnLst/>
            <a:rect r="r" b="b" t="t" l="l"/>
            <a:pathLst>
              <a:path h="5655778" w="4404437">
                <a:moveTo>
                  <a:pt x="0" y="0"/>
                </a:moveTo>
                <a:lnTo>
                  <a:pt x="4404437" y="0"/>
                </a:lnTo>
                <a:lnTo>
                  <a:pt x="4404437" y="5655778"/>
                </a:lnTo>
                <a:lnTo>
                  <a:pt x="0" y="5655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998318" y="9036632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551518" y="9036632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42613" y="933450"/>
            <a:ext cx="12002775" cy="584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2"/>
              </a:lnSpc>
            </a:pPr>
            <a:r>
              <a:rPr lang="en-US" b="true" sz="471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TEAM</a:t>
            </a:r>
          </a:p>
          <a:p>
            <a:pPr algn="ctr">
              <a:lnSpc>
                <a:spcPts val="6602"/>
              </a:lnSpc>
            </a:pPr>
            <a:r>
              <a:rPr lang="en-US" b="true" sz="471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T.ASHRITH REDDY 2510040077</a:t>
            </a:r>
          </a:p>
          <a:p>
            <a:pPr algn="ctr">
              <a:lnSpc>
                <a:spcPts val="6602"/>
              </a:lnSpc>
            </a:pPr>
            <a:r>
              <a:rPr lang="en-US" b="true" sz="471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L.BHARATH CHANDRA 2510040031</a:t>
            </a:r>
          </a:p>
          <a:p>
            <a:pPr algn="ctr">
              <a:lnSpc>
                <a:spcPts val="6602"/>
              </a:lnSpc>
            </a:pPr>
            <a:r>
              <a:rPr lang="en-US" b="true" sz="471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S.SHREYANSH RAO 2510040033</a:t>
            </a:r>
          </a:p>
          <a:p>
            <a:pPr algn="ctr">
              <a:lnSpc>
                <a:spcPts val="6602"/>
              </a:lnSpc>
            </a:pPr>
            <a:r>
              <a:rPr lang="en-US" b="true" sz="471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S.VAMSHI KRISHNA 2510030247</a:t>
            </a:r>
          </a:p>
          <a:p>
            <a:pPr algn="ctr">
              <a:lnSpc>
                <a:spcPts val="6602"/>
              </a:lnSpc>
            </a:pPr>
            <a:r>
              <a:rPr lang="en-US" b="true" sz="471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K.PRABHAS CHARY 2510030079</a:t>
            </a:r>
          </a:p>
          <a:p>
            <a:pPr algn="ctr">
              <a:lnSpc>
                <a:spcPts val="6602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46459" y="9210675"/>
            <a:ext cx="1131703" cy="38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  <a:spcBef>
                <a:spcPct val="0"/>
              </a:spcBef>
            </a:pPr>
            <a:r>
              <a:rPr lang="en-US" sz="2294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2025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7384997">
            <a:off x="-594215" y="-1991275"/>
            <a:ext cx="4404437" cy="5655778"/>
          </a:xfrm>
          <a:custGeom>
            <a:avLst/>
            <a:gdLst/>
            <a:ahLst/>
            <a:cxnLst/>
            <a:rect r="r" b="b" t="t" l="l"/>
            <a:pathLst>
              <a:path h="5655778" w="4404437">
                <a:moveTo>
                  <a:pt x="0" y="0"/>
                </a:moveTo>
                <a:lnTo>
                  <a:pt x="4404437" y="0"/>
                </a:lnTo>
                <a:lnTo>
                  <a:pt x="4404437" y="5655777"/>
                </a:lnTo>
                <a:lnTo>
                  <a:pt x="0" y="5655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83524" y="445880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552500" y="730691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105700" y="730691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3302" y="3019488"/>
            <a:ext cx="1193201" cy="945883"/>
          </a:xfrm>
          <a:custGeom>
            <a:avLst/>
            <a:gdLst/>
            <a:ahLst/>
            <a:cxnLst/>
            <a:rect r="r" b="b" t="t" l="l"/>
            <a:pathLst>
              <a:path h="945883" w="1193201">
                <a:moveTo>
                  <a:pt x="0" y="0"/>
                </a:moveTo>
                <a:lnTo>
                  <a:pt x="1193201" y="0"/>
                </a:lnTo>
                <a:lnTo>
                  <a:pt x="1193201" y="945883"/>
                </a:lnTo>
                <a:lnTo>
                  <a:pt x="0" y="9458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015874" y="830098"/>
            <a:ext cx="1628775" cy="1628775"/>
          </a:xfrm>
          <a:custGeom>
            <a:avLst/>
            <a:gdLst/>
            <a:ahLst/>
            <a:cxnLst/>
            <a:rect r="r" b="b" t="t" l="l"/>
            <a:pathLst>
              <a:path h="1628775" w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75816" y="1129420"/>
            <a:ext cx="11534365" cy="132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22"/>
              </a:lnSpc>
              <a:spcBef>
                <a:spcPct val="0"/>
              </a:spcBef>
            </a:pPr>
            <a:r>
              <a:rPr lang="en-US" sz="7730" b="true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95876" y="2971863"/>
            <a:ext cx="14656624" cy="4893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4"/>
              </a:lnSpc>
            </a:pPr>
            <a:r>
              <a:rPr lang="en-US" sz="271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Delay in accident detection on highways leads to loss of lives due to late emergency response, especially during night-time or low-traffic conditions.</a:t>
            </a:r>
          </a:p>
          <a:p>
            <a:pPr algn="l">
              <a:lnSpc>
                <a:spcPts val="3804"/>
              </a:lnSpc>
            </a:pPr>
          </a:p>
          <a:p>
            <a:pPr algn="l">
              <a:lnSpc>
                <a:spcPts val="3804"/>
              </a:lnSpc>
            </a:pPr>
            <a:r>
              <a:rPr lang="en-US" sz="2717" b="true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Real-World Relevance &amp; Impact</a:t>
            </a:r>
          </a:p>
          <a:p>
            <a:pPr algn="l" marL="586669" indent="-293335" lvl="1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Many highway accidents go unnoticed for several minutes</a:t>
            </a:r>
          </a:p>
          <a:p>
            <a:pPr algn="l" marL="586669" indent="-293335" lvl="1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Every second of delay increases fatality risk</a:t>
            </a:r>
          </a:p>
          <a:p>
            <a:pPr algn="l" marL="586669" indent="-293335" lvl="1">
              <a:lnSpc>
                <a:spcPts val="3804"/>
              </a:lnSpc>
              <a:buFont typeface="Arial"/>
              <a:buChar char="•"/>
            </a:pPr>
            <a:r>
              <a:rPr lang="en-US" sz="271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Manual reporting is unreliable at night or in isolated areas</a:t>
            </a:r>
          </a:p>
          <a:p>
            <a:pPr algn="l">
              <a:lnSpc>
                <a:spcPts val="3804"/>
              </a:lnSpc>
            </a:pPr>
          </a:p>
          <a:p>
            <a:pPr algn="l">
              <a:lnSpc>
                <a:spcPts val="3804"/>
              </a:lnSpc>
            </a:pPr>
            <a:r>
              <a:rPr lang="en-US" sz="2717" b="true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Why This Matters</a:t>
            </a:r>
          </a:p>
          <a:p>
            <a:pPr algn="l">
              <a:lnSpc>
                <a:spcPts val="3804"/>
              </a:lnSpc>
            </a:pPr>
            <a:r>
              <a:rPr lang="en-US" sz="2717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Early detection + instant alerts = faster ambulance &amp; police response = lives saved</a:t>
            </a:r>
          </a:p>
          <a:p>
            <a:pPr algn="l">
              <a:lnSpc>
                <a:spcPts val="584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5400000">
            <a:off x="16912965" y="4065737"/>
            <a:ext cx="1281112" cy="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761076" y="5582494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8229600" y="0"/>
                </a:moveTo>
                <a:lnTo>
                  <a:pt x="0" y="0"/>
                </a:lnTo>
                <a:lnTo>
                  <a:pt x="0" y="8229600"/>
                </a:lnTo>
                <a:lnTo>
                  <a:pt x="8229600" y="8229600"/>
                </a:lnTo>
                <a:lnTo>
                  <a:pt x="822960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552500" y="730691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1"/>
                </a:lnTo>
                <a:lnTo>
                  <a:pt x="555524" y="558571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7105700" y="730691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3" y="0"/>
                </a:moveTo>
                <a:lnTo>
                  <a:pt x="0" y="0"/>
                </a:lnTo>
                <a:lnTo>
                  <a:pt x="0" y="558571"/>
                </a:lnTo>
                <a:lnTo>
                  <a:pt x="555523" y="558571"/>
                </a:lnTo>
                <a:lnTo>
                  <a:pt x="55552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45763" y="1502026"/>
            <a:ext cx="8981780" cy="1079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7"/>
              </a:lnSpc>
              <a:spcBef>
                <a:spcPct val="0"/>
              </a:spcBef>
            </a:pPr>
            <a:r>
              <a:rPr lang="en-US" b="true" sz="6348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 (INPUTS &amp; OUTPUTS)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04218" y="288674"/>
            <a:ext cx="12611657" cy="1327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2"/>
              </a:lnSpc>
              <a:spcBef>
                <a:spcPct val="0"/>
              </a:spcBef>
            </a:pPr>
            <a:r>
              <a:rPr lang="en-US" b="true" sz="7730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PROBLEM DEFINITION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015874" y="830098"/>
            <a:ext cx="1628775" cy="1628775"/>
          </a:xfrm>
          <a:custGeom>
            <a:avLst/>
            <a:gdLst/>
            <a:ahLst/>
            <a:cxnLst/>
            <a:rect r="r" b="b" t="t" l="l"/>
            <a:pathLst>
              <a:path h="1628775" w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5400000">
            <a:off x="16912965" y="5491807"/>
            <a:ext cx="1281112" cy="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50697" y="2984524"/>
            <a:ext cx="11771912" cy="607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9"/>
              </a:lnSpc>
            </a:pPr>
            <a:r>
              <a:rPr lang="en-US" sz="29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Inputs</a:t>
            </a:r>
          </a:p>
          <a:p>
            <a:pPr algn="l" marL="633753" indent="-316877" lvl="1">
              <a:lnSpc>
                <a:spcPts val="4109"/>
              </a:lnSpc>
              <a:buFont typeface="Arial"/>
              <a:buChar char="•"/>
            </a:pPr>
            <a:r>
              <a:rPr lang="en-US" sz="29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Vehicle speed</a:t>
            </a:r>
          </a:p>
          <a:p>
            <a:pPr algn="l" marL="633753" indent="-316877" lvl="1">
              <a:lnSpc>
                <a:spcPts val="4109"/>
              </a:lnSpc>
              <a:buFont typeface="Arial"/>
              <a:buChar char="•"/>
            </a:pPr>
            <a:r>
              <a:rPr lang="en-US" sz="29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Sudden deceleration / stop</a:t>
            </a:r>
          </a:p>
          <a:p>
            <a:pPr algn="l" marL="633753" indent="-316877" lvl="1">
              <a:lnSpc>
                <a:spcPts val="4109"/>
              </a:lnSpc>
              <a:buFont typeface="Arial"/>
              <a:buChar char="•"/>
            </a:pPr>
            <a:r>
              <a:rPr lang="en-US" sz="29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Time of accident (day/night)</a:t>
            </a:r>
          </a:p>
          <a:p>
            <a:pPr algn="l" marL="633753" indent="-316877" lvl="1">
              <a:lnSpc>
                <a:spcPts val="4109"/>
              </a:lnSpc>
              <a:buFont typeface="Arial"/>
              <a:buChar char="•"/>
            </a:pPr>
            <a:r>
              <a:rPr lang="en-US" sz="29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Road type (highway/city)</a:t>
            </a:r>
          </a:p>
          <a:p>
            <a:pPr algn="l" marL="633753" indent="-316877" lvl="1">
              <a:lnSpc>
                <a:spcPts val="4109"/>
              </a:lnSpc>
              <a:buFont typeface="Arial"/>
              <a:buChar char="•"/>
            </a:pPr>
            <a:r>
              <a:rPr lang="en-US" sz="29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Weather conditions</a:t>
            </a:r>
          </a:p>
          <a:p>
            <a:pPr algn="l">
              <a:lnSpc>
                <a:spcPts val="4109"/>
              </a:lnSpc>
            </a:pPr>
            <a:r>
              <a:rPr lang="en-US" sz="29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(Inputs collected via user app or simulated sensor data)</a:t>
            </a:r>
          </a:p>
          <a:p>
            <a:pPr algn="l">
              <a:lnSpc>
                <a:spcPts val="4109"/>
              </a:lnSpc>
            </a:pPr>
            <a:r>
              <a:rPr lang="en-US" sz="29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Outputs</a:t>
            </a:r>
          </a:p>
          <a:p>
            <a:pPr algn="l" marL="633753" indent="-316877" lvl="1">
              <a:lnSpc>
                <a:spcPts val="4109"/>
              </a:lnSpc>
              <a:buFont typeface="Arial"/>
              <a:buChar char="•"/>
            </a:pPr>
            <a:r>
              <a:rPr lang="en-US" sz="29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Accident risk level (Low / Medium / High)</a:t>
            </a:r>
          </a:p>
          <a:p>
            <a:pPr algn="l" marL="633753" indent="-316877" lvl="1">
              <a:lnSpc>
                <a:spcPts val="4109"/>
              </a:lnSpc>
              <a:buFont typeface="Arial"/>
              <a:buChar char="•"/>
            </a:pPr>
            <a:r>
              <a:rPr lang="en-US" sz="29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Instant alert to driver</a:t>
            </a:r>
          </a:p>
          <a:p>
            <a:pPr algn="l" marL="633753" indent="-316877" lvl="1">
              <a:lnSpc>
                <a:spcPts val="4109"/>
              </a:lnSpc>
              <a:buFont typeface="Arial"/>
              <a:buChar char="•"/>
            </a:pPr>
            <a:r>
              <a:rPr lang="en-US" sz="29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Simulated notification to emergency services</a:t>
            </a:r>
          </a:p>
          <a:p>
            <a:pPr algn="l">
              <a:lnSpc>
                <a:spcPts val="340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15874" y="830098"/>
            <a:ext cx="1628775" cy="1628775"/>
          </a:xfrm>
          <a:custGeom>
            <a:avLst/>
            <a:gdLst/>
            <a:ahLst/>
            <a:cxnLst/>
            <a:rect r="r" b="b" t="t" l="l"/>
            <a:pathLst>
              <a:path h="1628775" w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425748" y="467458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0"/>
                </a:lnTo>
                <a:lnTo>
                  <a:pt x="555524" y="558570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978948" y="467458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0"/>
                </a:lnTo>
                <a:lnTo>
                  <a:pt x="555524" y="558570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493520" y="-432037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5795" y="2723462"/>
            <a:ext cx="1152525" cy="1152525"/>
          </a:xfrm>
          <a:custGeom>
            <a:avLst/>
            <a:gdLst/>
            <a:ahLst/>
            <a:cxnLst/>
            <a:rect r="r" b="b" t="t" l="l"/>
            <a:pathLst>
              <a:path h="1152525" w="1152525">
                <a:moveTo>
                  <a:pt x="0" y="0"/>
                </a:moveTo>
                <a:lnTo>
                  <a:pt x="1152525" y="0"/>
                </a:lnTo>
                <a:lnTo>
                  <a:pt x="1152525" y="1152525"/>
                </a:lnTo>
                <a:lnTo>
                  <a:pt x="0" y="11525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5400000">
            <a:off x="16912965" y="5491807"/>
            <a:ext cx="1281112" cy="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71586" y="350668"/>
            <a:ext cx="7038718" cy="2600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2"/>
              </a:lnSpc>
            </a:pPr>
            <a:r>
              <a:rPr lang="en-US" sz="7230" b="true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 SOLUTION </a:t>
            </a:r>
          </a:p>
          <a:p>
            <a:pPr algn="l">
              <a:lnSpc>
                <a:spcPts val="10822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010577" y="350668"/>
            <a:ext cx="6295768" cy="240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62"/>
              </a:lnSpc>
            </a:pPr>
            <a:r>
              <a:rPr lang="en-US" sz="7330" b="true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PROPOSED </a:t>
            </a:r>
          </a:p>
          <a:p>
            <a:pPr algn="l">
              <a:lnSpc>
                <a:spcPts val="9002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2883825" y="2911554"/>
            <a:ext cx="3415031" cy="766076"/>
            <a:chOff x="0" y="0"/>
            <a:chExt cx="1811659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11659" cy="406400"/>
            </a:xfrm>
            <a:custGeom>
              <a:avLst/>
              <a:gdLst/>
              <a:ahLst/>
              <a:cxnLst/>
              <a:rect r="r" b="b" t="t" l="l"/>
              <a:pathLst>
                <a:path h="406400" w="1811659">
                  <a:moveTo>
                    <a:pt x="1608459" y="0"/>
                  </a:moveTo>
                  <a:cubicBezTo>
                    <a:pt x="1720683" y="0"/>
                    <a:pt x="1811659" y="90976"/>
                    <a:pt x="1811659" y="203200"/>
                  </a:cubicBezTo>
                  <a:cubicBezTo>
                    <a:pt x="1811659" y="315424"/>
                    <a:pt x="1720683" y="406400"/>
                    <a:pt x="160845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47625"/>
              <a:ext cx="1811659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5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175006" y="3115196"/>
            <a:ext cx="3123850" cy="40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2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CORE 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32211" y="2634960"/>
            <a:ext cx="7800718" cy="127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2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A mobile-based alert system app that analyzes driving data to detect possible accidents and trigger emergency alerts.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883825" y="4319269"/>
            <a:ext cx="4148385" cy="766076"/>
            <a:chOff x="0" y="0"/>
            <a:chExt cx="2200699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0700" cy="406400"/>
            </a:xfrm>
            <a:custGeom>
              <a:avLst/>
              <a:gdLst/>
              <a:ahLst/>
              <a:cxnLst/>
              <a:rect r="r" b="b" t="t" l="l"/>
              <a:pathLst>
                <a:path h="406400" w="2200700">
                  <a:moveTo>
                    <a:pt x="1997500" y="0"/>
                  </a:moveTo>
                  <a:cubicBezTo>
                    <a:pt x="2109724" y="0"/>
                    <a:pt x="2200700" y="90976"/>
                    <a:pt x="2200700" y="203200"/>
                  </a:cubicBezTo>
                  <a:cubicBezTo>
                    <a:pt x="2200700" y="315424"/>
                    <a:pt x="2109724" y="406400"/>
                    <a:pt x="19975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47625"/>
              <a:ext cx="2200699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5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175006" y="4522911"/>
            <a:ext cx="3714400" cy="82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2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KEY DESIGN PRINCIPLE</a:t>
            </a:r>
          </a:p>
          <a:p>
            <a:pPr algn="l">
              <a:lnSpc>
                <a:spcPts val="340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7234699" y="4211400"/>
            <a:ext cx="7800718" cy="170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5806" indent="-262903" lvl="1">
              <a:lnSpc>
                <a:spcPts val="3409"/>
              </a:lnSpc>
              <a:buFont typeface="Arial"/>
              <a:buChar char="•"/>
            </a:pPr>
            <a:r>
              <a:rPr lang="en-US" sz="2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No mandatory wearables</a:t>
            </a:r>
          </a:p>
          <a:p>
            <a:pPr algn="l" marL="525806" indent="-262903" lvl="1">
              <a:lnSpc>
                <a:spcPts val="3409"/>
              </a:lnSpc>
              <a:buFont typeface="Arial"/>
              <a:buChar char="•"/>
            </a:pPr>
            <a:r>
              <a:rPr lang="en-US" sz="2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Works independently as a standalone application</a:t>
            </a:r>
          </a:p>
          <a:p>
            <a:pPr algn="l">
              <a:lnSpc>
                <a:spcPts val="3409"/>
              </a:lnSpc>
              <a:spcBef>
                <a:spcPct val="0"/>
              </a:spcBef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2883825" y="5971909"/>
            <a:ext cx="4148385" cy="766076"/>
            <a:chOff x="0" y="0"/>
            <a:chExt cx="2200699" cy="40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00700" cy="406400"/>
            </a:xfrm>
            <a:custGeom>
              <a:avLst/>
              <a:gdLst/>
              <a:ahLst/>
              <a:cxnLst/>
              <a:rect r="r" b="b" t="t" l="l"/>
              <a:pathLst>
                <a:path h="406400" w="2200700">
                  <a:moveTo>
                    <a:pt x="1997500" y="0"/>
                  </a:moveTo>
                  <a:cubicBezTo>
                    <a:pt x="2109724" y="0"/>
                    <a:pt x="2200700" y="90976"/>
                    <a:pt x="2200700" y="203200"/>
                  </a:cubicBezTo>
                  <a:cubicBezTo>
                    <a:pt x="2200700" y="315424"/>
                    <a:pt x="2109724" y="406400"/>
                    <a:pt x="19975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47625"/>
              <a:ext cx="2200699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25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175006" y="6175551"/>
            <a:ext cx="3714400" cy="82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2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OPTIONAL EXTENSION</a:t>
            </a:r>
          </a:p>
          <a:p>
            <a:pPr algn="l">
              <a:lnSpc>
                <a:spcPts val="3409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7479504" y="5864040"/>
            <a:ext cx="7800718" cy="84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9"/>
              </a:lnSpc>
              <a:spcBef>
                <a:spcPct val="0"/>
              </a:spcBef>
            </a:pPr>
            <a:r>
              <a:rPr lang="en-US" sz="2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Wearable sma</a:t>
            </a:r>
            <a:r>
              <a:rPr lang="en-US" sz="2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rt glasses considered only as a future enhancement, not a dependency.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15874" y="830098"/>
            <a:ext cx="1628775" cy="1628775"/>
          </a:xfrm>
          <a:custGeom>
            <a:avLst/>
            <a:gdLst/>
            <a:ahLst/>
            <a:cxnLst/>
            <a:rect r="r" b="b" t="t" l="l"/>
            <a:pathLst>
              <a:path h="1628775" w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425748" y="467458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0"/>
                </a:lnTo>
                <a:lnTo>
                  <a:pt x="555524" y="558570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978948" y="467458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0"/>
                </a:lnTo>
                <a:lnTo>
                  <a:pt x="555524" y="558570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493520" y="-432037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5795" y="2723462"/>
            <a:ext cx="1152525" cy="1152525"/>
          </a:xfrm>
          <a:custGeom>
            <a:avLst/>
            <a:gdLst/>
            <a:ahLst/>
            <a:cxnLst/>
            <a:rect r="r" b="b" t="t" l="l"/>
            <a:pathLst>
              <a:path h="1152525" w="1152525">
                <a:moveTo>
                  <a:pt x="0" y="0"/>
                </a:moveTo>
                <a:lnTo>
                  <a:pt x="1152525" y="0"/>
                </a:lnTo>
                <a:lnTo>
                  <a:pt x="1152525" y="1152525"/>
                </a:lnTo>
                <a:lnTo>
                  <a:pt x="0" y="11525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5400000">
            <a:off x="16912965" y="5491807"/>
            <a:ext cx="1281112" cy="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92447" y="2055509"/>
            <a:ext cx="8605287" cy="120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2"/>
              </a:lnSpc>
              <a:spcBef>
                <a:spcPct val="0"/>
              </a:spcBef>
            </a:pPr>
            <a:r>
              <a:rPr lang="en-US" sz="7030" b="true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10577" y="986304"/>
            <a:ext cx="6295768" cy="120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2"/>
              </a:lnSpc>
              <a:spcBef>
                <a:spcPct val="0"/>
              </a:spcBef>
            </a:pPr>
            <a:r>
              <a:rPr lang="en-US" sz="7030" b="true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SYSTEM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10577" y="3792484"/>
            <a:ext cx="11310626" cy="424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1701" indent="-370850" lvl="1">
              <a:lnSpc>
                <a:spcPts val="4809"/>
              </a:lnSpc>
              <a:buFont typeface="Arial"/>
              <a:buChar char="•"/>
            </a:pPr>
            <a:r>
              <a:rPr lang="en-US" sz="3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User driving data collected through app / simulation</a:t>
            </a:r>
          </a:p>
          <a:p>
            <a:pPr algn="l" marL="741701" indent="-370850" lvl="1">
              <a:lnSpc>
                <a:spcPts val="4809"/>
              </a:lnSpc>
              <a:buFont typeface="Arial"/>
              <a:buChar char="•"/>
            </a:pPr>
            <a:r>
              <a:rPr lang="en-US" sz="3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Data processed using AI / rule-based logic</a:t>
            </a:r>
          </a:p>
          <a:p>
            <a:pPr algn="l" marL="741701" indent="-370850" lvl="1">
              <a:lnSpc>
                <a:spcPts val="4809"/>
              </a:lnSpc>
              <a:buFont typeface="Arial"/>
              <a:buChar char="•"/>
            </a:pPr>
            <a:r>
              <a:rPr lang="en-US" sz="3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Accident risk classified</a:t>
            </a:r>
          </a:p>
          <a:p>
            <a:pPr algn="l" marL="741701" indent="-370850" lvl="1">
              <a:lnSpc>
                <a:spcPts val="4809"/>
              </a:lnSpc>
              <a:buFont typeface="Arial"/>
              <a:buChar char="•"/>
            </a:pPr>
            <a:r>
              <a:rPr lang="en-US" sz="3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Alerts generated instantly</a:t>
            </a:r>
          </a:p>
          <a:p>
            <a:pPr algn="l" marL="741701" indent="-370850" lvl="1">
              <a:lnSpc>
                <a:spcPts val="4809"/>
              </a:lnSpc>
              <a:buFont typeface="Arial"/>
              <a:buChar char="•"/>
            </a:pPr>
            <a:r>
              <a:rPr lang="en-US" sz="34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Emergency response simulated</a:t>
            </a:r>
          </a:p>
          <a:p>
            <a:pPr algn="l">
              <a:lnSpc>
                <a:spcPts val="480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15874" y="830098"/>
            <a:ext cx="1628775" cy="1628775"/>
          </a:xfrm>
          <a:custGeom>
            <a:avLst/>
            <a:gdLst/>
            <a:ahLst/>
            <a:cxnLst/>
            <a:rect r="r" b="b" t="t" l="l"/>
            <a:pathLst>
              <a:path h="1628775" w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425748" y="467458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0"/>
                </a:lnTo>
                <a:lnTo>
                  <a:pt x="555524" y="558570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978948" y="467458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0"/>
                </a:lnTo>
                <a:lnTo>
                  <a:pt x="555524" y="558570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493520" y="-432037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5795" y="2723462"/>
            <a:ext cx="1152525" cy="1152525"/>
          </a:xfrm>
          <a:custGeom>
            <a:avLst/>
            <a:gdLst/>
            <a:ahLst/>
            <a:cxnLst/>
            <a:rect r="r" b="b" t="t" l="l"/>
            <a:pathLst>
              <a:path h="1152525" w="1152525">
                <a:moveTo>
                  <a:pt x="0" y="0"/>
                </a:moveTo>
                <a:lnTo>
                  <a:pt x="1152525" y="0"/>
                </a:lnTo>
                <a:lnTo>
                  <a:pt x="1152525" y="1152525"/>
                </a:lnTo>
                <a:lnTo>
                  <a:pt x="0" y="11525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5400000">
            <a:off x="16912965" y="5491807"/>
            <a:ext cx="1281112" cy="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34535" y="696748"/>
            <a:ext cx="8605287" cy="120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2"/>
              </a:lnSpc>
              <a:spcBef>
                <a:spcPct val="0"/>
              </a:spcBef>
            </a:pPr>
            <a:r>
              <a:rPr lang="en-US" sz="7030" b="true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 COLLECTION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83958" y="696748"/>
            <a:ext cx="6295768" cy="120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2"/>
              </a:lnSpc>
              <a:spcBef>
                <a:spcPct val="0"/>
              </a:spcBef>
            </a:pPr>
            <a:r>
              <a:rPr lang="en-US" sz="7030" b="true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DATA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80217" y="2054308"/>
            <a:ext cx="16307783" cy="7335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0574" indent="-295287" lvl="1">
              <a:lnSpc>
                <a:spcPts val="3829"/>
              </a:lnSpc>
              <a:buFont typeface="Arial"/>
              <a:buChar char="•"/>
            </a:pPr>
            <a:r>
              <a:rPr lang="en-US" b="true" sz="2735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Dataset Sources</a:t>
            </a:r>
          </a:p>
          <a:p>
            <a:pPr algn="l" marL="590574" indent="-295287" lvl="1">
              <a:lnSpc>
                <a:spcPts val="3829"/>
              </a:lnSpc>
              <a:buFont typeface="Arial"/>
              <a:buChar char="•"/>
            </a:pPr>
            <a:r>
              <a:rPr lang="en-US" sz="27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Public road accident datasets</a:t>
            </a:r>
          </a:p>
          <a:p>
            <a:pPr algn="l" marL="590574" indent="-295287" lvl="1">
              <a:lnSpc>
                <a:spcPts val="3829"/>
              </a:lnSpc>
              <a:buFont typeface="Arial"/>
              <a:buChar char="•"/>
            </a:pPr>
            <a:r>
              <a:rPr lang="en-US" sz="27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Simulated driving data (for prototype)</a:t>
            </a:r>
          </a:p>
          <a:p>
            <a:pPr algn="l" marL="590574" indent="-295287" lvl="1">
              <a:lnSpc>
                <a:spcPts val="3829"/>
              </a:lnSpc>
              <a:buFont typeface="Arial"/>
              <a:buChar char="•"/>
            </a:pPr>
            <a:r>
              <a:rPr lang="en-US" b="true" sz="2735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Data Type</a:t>
            </a:r>
          </a:p>
          <a:p>
            <a:pPr algn="l" marL="590574" indent="-295287" lvl="1">
              <a:lnSpc>
                <a:spcPts val="3829"/>
              </a:lnSpc>
              <a:buFont typeface="Arial"/>
              <a:buChar char="•"/>
            </a:pPr>
            <a:r>
              <a:rPr lang="en-US" sz="27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Structured tabular data</a:t>
            </a:r>
          </a:p>
          <a:p>
            <a:pPr algn="l" marL="590574" indent="-295287" lvl="1">
              <a:lnSpc>
                <a:spcPts val="3829"/>
              </a:lnSpc>
              <a:buFont typeface="Arial"/>
              <a:buChar char="•"/>
            </a:pPr>
            <a:r>
              <a:rPr lang="en-US" b="true" sz="2735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Sample Features</a:t>
            </a:r>
          </a:p>
          <a:p>
            <a:pPr algn="l" marL="590574" indent="-295287" lvl="1">
              <a:lnSpc>
                <a:spcPts val="3829"/>
              </a:lnSpc>
              <a:buFont typeface="Arial"/>
              <a:buChar char="•"/>
            </a:pPr>
            <a:r>
              <a:rPr lang="en-US" sz="27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Speed</a:t>
            </a:r>
          </a:p>
          <a:p>
            <a:pPr algn="l" marL="590574" indent="-295287" lvl="1">
              <a:lnSpc>
                <a:spcPts val="3829"/>
              </a:lnSpc>
              <a:buFont typeface="Arial"/>
              <a:buChar char="•"/>
            </a:pPr>
            <a:r>
              <a:rPr lang="en-US" sz="27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Acceleration change</a:t>
            </a:r>
          </a:p>
          <a:p>
            <a:pPr algn="l" marL="590574" indent="-295287" lvl="1">
              <a:lnSpc>
                <a:spcPts val="3829"/>
              </a:lnSpc>
              <a:buFont typeface="Arial"/>
              <a:buChar char="•"/>
            </a:pPr>
            <a:r>
              <a:rPr lang="en-US" sz="27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Tim</a:t>
            </a:r>
            <a:r>
              <a:rPr lang="en-US" sz="27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e of travel</a:t>
            </a:r>
          </a:p>
          <a:p>
            <a:pPr algn="l" marL="590574" indent="-295287" lvl="1">
              <a:lnSpc>
                <a:spcPts val="3829"/>
              </a:lnSpc>
              <a:buFont typeface="Arial"/>
              <a:buChar char="•"/>
            </a:pPr>
            <a:r>
              <a:rPr lang="en-US" sz="27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Road condition</a:t>
            </a:r>
          </a:p>
          <a:p>
            <a:pPr algn="l" marL="590574" indent="-295287" lvl="1">
              <a:lnSpc>
                <a:spcPts val="3829"/>
              </a:lnSpc>
              <a:buFont typeface="Arial"/>
              <a:buChar char="•"/>
            </a:pPr>
            <a:r>
              <a:rPr lang="en-US" sz="27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W</a:t>
            </a:r>
            <a:r>
              <a:rPr lang="en-US" sz="27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eather</a:t>
            </a:r>
          </a:p>
          <a:p>
            <a:pPr algn="l" marL="590574" indent="-295287" lvl="1">
              <a:lnSpc>
                <a:spcPts val="3829"/>
              </a:lnSpc>
              <a:buFont typeface="Arial"/>
              <a:buChar char="•"/>
            </a:pPr>
            <a:r>
              <a:rPr lang="en-US" b="true" sz="2735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Target Variable</a:t>
            </a:r>
          </a:p>
          <a:p>
            <a:pPr algn="l" marL="590574" indent="-295287" lvl="1">
              <a:lnSpc>
                <a:spcPts val="3829"/>
              </a:lnSpc>
              <a:buFont typeface="Arial"/>
              <a:buChar char="•"/>
            </a:pPr>
            <a:r>
              <a:rPr lang="en-US" sz="27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Accident Risk (Yes / No) or Risk Level (Low / Medium / High)</a:t>
            </a:r>
          </a:p>
          <a:p>
            <a:pPr algn="l">
              <a:lnSpc>
                <a:spcPts val="3969"/>
              </a:lnSpc>
            </a:pPr>
          </a:p>
          <a:p>
            <a:pPr algn="l">
              <a:lnSpc>
                <a:spcPts val="43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060279"/>
            <a:ext cx="2410884" cy="608841"/>
            <a:chOff x="0" y="0"/>
            <a:chExt cx="1609259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9259" cy="406400"/>
            </a:xfrm>
            <a:custGeom>
              <a:avLst/>
              <a:gdLst/>
              <a:ahLst/>
              <a:cxnLst/>
              <a:rect r="r" b="b" t="t" l="l"/>
              <a:pathLst>
                <a:path h="406400" w="1609259">
                  <a:moveTo>
                    <a:pt x="1406059" y="0"/>
                  </a:moveTo>
                  <a:cubicBezTo>
                    <a:pt x="1518283" y="0"/>
                    <a:pt x="1609259" y="90976"/>
                    <a:pt x="1609259" y="203200"/>
                  </a:cubicBezTo>
                  <a:cubicBezTo>
                    <a:pt x="1609259" y="315424"/>
                    <a:pt x="1518283" y="406400"/>
                    <a:pt x="140605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1609259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015874" y="830098"/>
            <a:ext cx="1628775" cy="1628775"/>
          </a:xfrm>
          <a:custGeom>
            <a:avLst/>
            <a:gdLst/>
            <a:ahLst/>
            <a:cxnLst/>
            <a:rect r="r" b="b" t="t" l="l"/>
            <a:pathLst>
              <a:path h="1628775" w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425748" y="467458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0"/>
                </a:lnTo>
                <a:lnTo>
                  <a:pt x="555524" y="558570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6978948" y="467458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0"/>
                </a:lnTo>
                <a:lnTo>
                  <a:pt x="555524" y="558570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493520" y="-432037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5795" y="2723462"/>
            <a:ext cx="1152525" cy="1152525"/>
          </a:xfrm>
          <a:custGeom>
            <a:avLst/>
            <a:gdLst/>
            <a:ahLst/>
            <a:cxnLst/>
            <a:rect r="r" b="b" t="t" l="l"/>
            <a:pathLst>
              <a:path h="1152525" w="1152525">
                <a:moveTo>
                  <a:pt x="0" y="0"/>
                </a:moveTo>
                <a:lnTo>
                  <a:pt x="1152525" y="0"/>
                </a:lnTo>
                <a:lnTo>
                  <a:pt x="1152525" y="1152525"/>
                </a:lnTo>
                <a:lnTo>
                  <a:pt x="0" y="11525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0" y="1227907"/>
            <a:ext cx="2386403" cy="25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5"/>
              </a:lnSpc>
              <a:spcBef>
                <a:spcPct val="0"/>
              </a:spcBef>
            </a:pPr>
            <a:r>
              <a:rPr lang="en-US" sz="1603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STUDIO SHODWE</a:t>
            </a:r>
          </a:p>
        </p:txBody>
      </p:sp>
      <p:sp>
        <p:nvSpPr>
          <p:cNvPr name="TextBox 12" id="12"/>
          <p:cNvSpPr txBox="true"/>
          <p:nvPr/>
        </p:nvSpPr>
        <p:spPr>
          <a:xfrm rot="5400000">
            <a:off x="16912965" y="5491807"/>
            <a:ext cx="1281112" cy="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80217" y="2480207"/>
            <a:ext cx="8605287" cy="120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2"/>
              </a:lnSpc>
              <a:spcBef>
                <a:spcPct val="0"/>
              </a:spcBef>
            </a:pPr>
            <a:r>
              <a:rPr lang="en-US" sz="7030" b="true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FORMAT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80217" y="1535771"/>
            <a:ext cx="6295768" cy="3698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2"/>
              </a:lnSpc>
            </a:pPr>
            <a:r>
              <a:rPr lang="en-US" sz="7030" b="true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DATA SIZE &amp; </a:t>
            </a:r>
          </a:p>
          <a:p>
            <a:pPr algn="l">
              <a:lnSpc>
                <a:spcPts val="9842"/>
              </a:lnSpc>
            </a:pPr>
          </a:p>
          <a:p>
            <a:pPr algn="l">
              <a:lnSpc>
                <a:spcPts val="9842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980217" y="4328178"/>
            <a:ext cx="16307783" cy="349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3290" indent="-381645" lvl="1">
              <a:lnSpc>
                <a:spcPts val="4949"/>
              </a:lnSpc>
              <a:buFont typeface="Arial"/>
              <a:buChar char="•"/>
            </a:pPr>
            <a:r>
              <a:rPr lang="en-US" sz="35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Small to medium dataset</a:t>
            </a:r>
          </a:p>
          <a:p>
            <a:pPr algn="l" marL="763290" indent="-381645" lvl="1">
              <a:lnSpc>
                <a:spcPts val="4949"/>
              </a:lnSpc>
              <a:buFont typeface="Arial"/>
              <a:buChar char="•"/>
            </a:pPr>
            <a:r>
              <a:rPr lang="en-US" sz="35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CSV format</a:t>
            </a:r>
          </a:p>
          <a:p>
            <a:pPr algn="l" marL="763290" indent="-381645" lvl="1">
              <a:lnSpc>
                <a:spcPts val="4949"/>
              </a:lnSpc>
              <a:buFont typeface="Arial"/>
              <a:buChar char="•"/>
            </a:pPr>
            <a:r>
              <a:rPr lang="en-US" sz="35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Suitable for quick preprocessing and prototyping</a:t>
            </a:r>
          </a:p>
          <a:p>
            <a:pPr algn="l" marL="763290" indent="-381645" lvl="1">
              <a:lnSpc>
                <a:spcPts val="4949"/>
              </a:lnSpc>
              <a:buFont typeface="Arial"/>
              <a:buChar char="•"/>
            </a:pPr>
            <a:r>
              <a:rPr lang="en-US" sz="3535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Designed for real-time extension in future</a:t>
            </a:r>
          </a:p>
          <a:p>
            <a:pPr algn="l" marL="590574" indent="-295287" lvl="1">
              <a:lnSpc>
                <a:spcPts val="3829"/>
              </a:lnSpc>
              <a:buFont typeface="Arial"/>
              <a:buChar char="•"/>
            </a:pPr>
          </a:p>
          <a:p>
            <a:pPr algn="l">
              <a:lnSpc>
                <a:spcPts val="43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060279"/>
            <a:ext cx="2410884" cy="608841"/>
            <a:chOff x="0" y="0"/>
            <a:chExt cx="1609259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9259" cy="406400"/>
            </a:xfrm>
            <a:custGeom>
              <a:avLst/>
              <a:gdLst/>
              <a:ahLst/>
              <a:cxnLst/>
              <a:rect r="r" b="b" t="t" l="l"/>
              <a:pathLst>
                <a:path h="406400" w="1609259">
                  <a:moveTo>
                    <a:pt x="1406059" y="0"/>
                  </a:moveTo>
                  <a:cubicBezTo>
                    <a:pt x="1518283" y="0"/>
                    <a:pt x="1609259" y="90976"/>
                    <a:pt x="1609259" y="203200"/>
                  </a:cubicBezTo>
                  <a:cubicBezTo>
                    <a:pt x="1609259" y="315424"/>
                    <a:pt x="1518283" y="406400"/>
                    <a:pt x="140605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1609259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015874" y="830098"/>
            <a:ext cx="1628775" cy="1628775"/>
          </a:xfrm>
          <a:custGeom>
            <a:avLst/>
            <a:gdLst/>
            <a:ahLst/>
            <a:cxnLst/>
            <a:rect r="r" b="b" t="t" l="l"/>
            <a:pathLst>
              <a:path h="1628775" w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425748" y="467458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0"/>
                </a:lnTo>
                <a:lnTo>
                  <a:pt x="555524" y="558570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6978948" y="467458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0"/>
                </a:lnTo>
                <a:lnTo>
                  <a:pt x="555524" y="558570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493520" y="-432037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5795" y="2723462"/>
            <a:ext cx="1152525" cy="1152525"/>
          </a:xfrm>
          <a:custGeom>
            <a:avLst/>
            <a:gdLst/>
            <a:ahLst/>
            <a:cxnLst/>
            <a:rect r="r" b="b" t="t" l="l"/>
            <a:pathLst>
              <a:path h="1152525" w="1152525">
                <a:moveTo>
                  <a:pt x="0" y="0"/>
                </a:moveTo>
                <a:lnTo>
                  <a:pt x="1152525" y="0"/>
                </a:lnTo>
                <a:lnTo>
                  <a:pt x="1152525" y="1152525"/>
                </a:lnTo>
                <a:lnTo>
                  <a:pt x="0" y="11525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0" y="1227907"/>
            <a:ext cx="2386403" cy="25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5"/>
              </a:lnSpc>
              <a:spcBef>
                <a:spcPct val="0"/>
              </a:spcBef>
            </a:pPr>
            <a:r>
              <a:rPr lang="en-US" sz="1603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STUDIO SHODWE</a:t>
            </a:r>
          </a:p>
        </p:txBody>
      </p:sp>
      <p:sp>
        <p:nvSpPr>
          <p:cNvPr name="TextBox 12" id="12"/>
          <p:cNvSpPr txBox="true"/>
          <p:nvPr/>
        </p:nvSpPr>
        <p:spPr>
          <a:xfrm rot="5400000">
            <a:off x="16912965" y="5491807"/>
            <a:ext cx="1281112" cy="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32346" y="1113607"/>
            <a:ext cx="11797915" cy="120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2"/>
              </a:lnSpc>
              <a:spcBef>
                <a:spcPct val="0"/>
              </a:spcBef>
            </a:pPr>
            <a:r>
              <a:rPr lang="en-US" sz="7030" b="true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 PREPROCESSING PLAN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86403" y="1113607"/>
            <a:ext cx="6295768" cy="120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2"/>
              </a:lnSpc>
              <a:spcBef>
                <a:spcPct val="0"/>
              </a:spcBef>
            </a:pPr>
            <a:r>
              <a:rPr lang="en-US" sz="7030" b="true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DATA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86403" y="2779165"/>
            <a:ext cx="11517882" cy="563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097" indent="-269548" lvl="1">
              <a:lnSpc>
                <a:spcPts val="3495"/>
              </a:lnSpc>
              <a:buFont typeface="Arial"/>
              <a:buChar char="•"/>
            </a:pPr>
            <a:r>
              <a:rPr lang="en-US" b="true" sz="249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Handling Missing Values</a:t>
            </a:r>
          </a:p>
          <a:p>
            <a:pPr algn="l" marL="539097" indent="-269548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Mean / mode replacement</a:t>
            </a:r>
          </a:p>
          <a:p>
            <a:pPr algn="l" marL="539097" indent="-269548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Row removal if critical data missing</a:t>
            </a:r>
          </a:p>
          <a:p>
            <a:pPr algn="l" marL="539097" indent="-269548" lvl="1">
              <a:lnSpc>
                <a:spcPts val="3495"/>
              </a:lnSpc>
              <a:buFont typeface="Arial"/>
              <a:buChar char="•"/>
            </a:pPr>
            <a:r>
              <a:rPr lang="en-US" b="true" sz="249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Outlier Detection</a:t>
            </a:r>
          </a:p>
          <a:p>
            <a:pPr algn="l" marL="539097" indent="-269548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Sudden speed spikes</a:t>
            </a:r>
          </a:p>
          <a:p>
            <a:pPr algn="l" marL="539097" indent="-269548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Abnormal acceleration values</a:t>
            </a:r>
          </a:p>
          <a:p>
            <a:pPr algn="l" marL="539097" indent="-269548" lvl="1">
              <a:lnSpc>
                <a:spcPts val="3495"/>
              </a:lnSpc>
              <a:buFont typeface="Arial"/>
              <a:buChar char="•"/>
            </a:pPr>
            <a:r>
              <a:rPr lang="en-US" b="true" sz="249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Feature Scaling / Encoding</a:t>
            </a:r>
          </a:p>
          <a:p>
            <a:pPr algn="l" marL="539097" indent="-269548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Normaliz</a:t>
            </a:r>
            <a:r>
              <a:rPr lang="en-US" sz="24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e numerical values</a:t>
            </a:r>
          </a:p>
          <a:p>
            <a:pPr algn="l" marL="539097" indent="-269548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Encode categorical features (road type, weather)</a:t>
            </a:r>
          </a:p>
          <a:p>
            <a:pPr algn="l" marL="539097" indent="-269548" lvl="1">
              <a:lnSpc>
                <a:spcPts val="3495"/>
              </a:lnSpc>
              <a:buFont typeface="Arial"/>
              <a:buChar char="•"/>
            </a:pPr>
            <a:r>
              <a:rPr lang="en-US" b="true" sz="249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Data Splitting</a:t>
            </a:r>
          </a:p>
          <a:p>
            <a:pPr algn="l" marL="539097" indent="-269548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Train set: 70%</a:t>
            </a:r>
          </a:p>
          <a:p>
            <a:pPr algn="l" marL="539097" indent="-269548" lvl="1">
              <a:lnSpc>
                <a:spcPts val="3495"/>
              </a:lnSpc>
              <a:buFont typeface="Arial"/>
              <a:buChar char="•"/>
            </a:pPr>
            <a:r>
              <a:rPr lang="en-US" sz="24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Test set: 30%</a:t>
            </a:r>
          </a:p>
          <a:p>
            <a:pPr algn="l">
              <a:lnSpc>
                <a:spcPts val="3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060279"/>
            <a:ext cx="2410884" cy="608841"/>
            <a:chOff x="0" y="0"/>
            <a:chExt cx="1609259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09259" cy="406400"/>
            </a:xfrm>
            <a:custGeom>
              <a:avLst/>
              <a:gdLst/>
              <a:ahLst/>
              <a:cxnLst/>
              <a:rect r="r" b="b" t="t" l="l"/>
              <a:pathLst>
                <a:path h="406400" w="1609259">
                  <a:moveTo>
                    <a:pt x="1406059" y="0"/>
                  </a:moveTo>
                  <a:cubicBezTo>
                    <a:pt x="1518283" y="0"/>
                    <a:pt x="1609259" y="90976"/>
                    <a:pt x="1609259" y="203200"/>
                  </a:cubicBezTo>
                  <a:cubicBezTo>
                    <a:pt x="1609259" y="315424"/>
                    <a:pt x="1518283" y="406400"/>
                    <a:pt x="140605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92A6DD">
                      <a:alpha val="100000"/>
                    </a:srgbClr>
                  </a:gs>
                  <a:gs pos="100000">
                    <a:srgbClr val="DF96D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1609259" cy="3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015874" y="830098"/>
            <a:ext cx="1628775" cy="1628775"/>
          </a:xfrm>
          <a:custGeom>
            <a:avLst/>
            <a:gdLst/>
            <a:ahLst/>
            <a:cxnLst/>
            <a:rect r="r" b="b" t="t" l="l"/>
            <a:pathLst>
              <a:path h="1628775" w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425748" y="467458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0"/>
                </a:lnTo>
                <a:lnTo>
                  <a:pt x="555524" y="558570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6978948" y="467458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0"/>
                </a:lnTo>
                <a:lnTo>
                  <a:pt x="555524" y="558570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493520" y="-432037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5795" y="2723462"/>
            <a:ext cx="1152525" cy="1152525"/>
          </a:xfrm>
          <a:custGeom>
            <a:avLst/>
            <a:gdLst/>
            <a:ahLst/>
            <a:cxnLst/>
            <a:rect r="r" b="b" t="t" l="l"/>
            <a:pathLst>
              <a:path h="1152525" w="1152525">
                <a:moveTo>
                  <a:pt x="0" y="0"/>
                </a:moveTo>
                <a:lnTo>
                  <a:pt x="1152525" y="0"/>
                </a:lnTo>
                <a:lnTo>
                  <a:pt x="1152525" y="1152525"/>
                </a:lnTo>
                <a:lnTo>
                  <a:pt x="0" y="11525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0" y="1227907"/>
            <a:ext cx="2386403" cy="25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5"/>
              </a:lnSpc>
              <a:spcBef>
                <a:spcPct val="0"/>
              </a:spcBef>
            </a:pPr>
            <a:r>
              <a:rPr lang="en-US" sz="1603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STUDIO SHODWE</a:t>
            </a:r>
          </a:p>
        </p:txBody>
      </p:sp>
      <p:sp>
        <p:nvSpPr>
          <p:cNvPr name="TextBox 12" id="12"/>
          <p:cNvSpPr txBox="true"/>
          <p:nvPr/>
        </p:nvSpPr>
        <p:spPr>
          <a:xfrm rot="5400000">
            <a:off x="16912965" y="5491807"/>
            <a:ext cx="1281112" cy="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29225" y="1113607"/>
            <a:ext cx="11797915" cy="120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2"/>
              </a:lnSpc>
              <a:spcBef>
                <a:spcPct val="0"/>
              </a:spcBef>
            </a:pPr>
            <a:r>
              <a:rPr lang="en-US" sz="7030" b="true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 IDENTIFICATION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86403" y="1113607"/>
            <a:ext cx="6295768" cy="120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2"/>
              </a:lnSpc>
              <a:spcBef>
                <a:spcPct val="0"/>
              </a:spcBef>
            </a:pPr>
            <a:r>
              <a:rPr lang="en-US" sz="7030" b="true">
                <a:solidFill>
                  <a:srgbClr val="A280EC"/>
                </a:solidFill>
                <a:latin typeface="Garet Bold"/>
                <a:ea typeface="Garet Bold"/>
                <a:cs typeface="Garet Bold"/>
                <a:sym typeface="Garet Bold"/>
              </a:rPr>
              <a:t>TECHNIQUE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44193" y="3217315"/>
            <a:ext cx="12985301" cy="552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044" indent="-323522" lvl="1">
              <a:lnSpc>
                <a:spcPts val="4195"/>
              </a:lnSpc>
              <a:buFont typeface="Arial"/>
              <a:buChar char="•"/>
            </a:pPr>
            <a:r>
              <a:rPr lang="en-US" b="true" sz="299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Problem Type</a:t>
            </a:r>
          </a:p>
          <a:p>
            <a:pPr algn="l" marL="647044" indent="-323522" lvl="1">
              <a:lnSpc>
                <a:spcPts val="4195"/>
              </a:lnSpc>
              <a:buFont typeface="Arial"/>
              <a:buChar char="•"/>
            </a:pPr>
            <a:r>
              <a:rPr lang="en-US" b="true" sz="299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Classification</a:t>
            </a:r>
          </a:p>
          <a:p>
            <a:pPr algn="l" marL="647044" indent="-323522" lvl="1">
              <a:lnSpc>
                <a:spcPts val="4195"/>
              </a:lnSpc>
              <a:buFont typeface="Arial"/>
              <a:buChar char="•"/>
            </a:pPr>
            <a:r>
              <a:rPr lang="en-US" b="true" sz="299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Models Considered</a:t>
            </a:r>
          </a:p>
          <a:p>
            <a:pPr algn="l" marL="647044" indent="-323522" lvl="1">
              <a:lnSpc>
                <a:spcPts val="4195"/>
              </a:lnSpc>
              <a:buFont typeface="Arial"/>
              <a:buChar char="•"/>
            </a:pPr>
            <a:r>
              <a:rPr lang="en-US" b="true" sz="299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L</a:t>
            </a:r>
            <a:r>
              <a:rPr lang="en-US" b="true" sz="299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ogistic Regression</a:t>
            </a:r>
          </a:p>
          <a:p>
            <a:pPr algn="l" marL="647044" indent="-323522" lvl="1">
              <a:lnSpc>
                <a:spcPts val="4195"/>
              </a:lnSpc>
              <a:buFont typeface="Arial"/>
              <a:buChar char="•"/>
            </a:pPr>
            <a:r>
              <a:rPr lang="en-US" b="true" sz="299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Decision Tree</a:t>
            </a:r>
          </a:p>
          <a:p>
            <a:pPr algn="l" marL="647044" indent="-323522" lvl="1">
              <a:lnSpc>
                <a:spcPts val="4195"/>
              </a:lnSpc>
              <a:buFont typeface="Arial"/>
              <a:buChar char="•"/>
            </a:pPr>
            <a:r>
              <a:rPr lang="en-US" b="true" sz="299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R</a:t>
            </a:r>
            <a:r>
              <a:rPr lang="en-US" b="true" sz="299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ule-based logic (for prototype)</a:t>
            </a:r>
          </a:p>
          <a:p>
            <a:pPr algn="l" marL="647044" indent="-323522" lvl="1">
              <a:lnSpc>
                <a:spcPts val="4195"/>
              </a:lnSpc>
              <a:buFont typeface="Arial"/>
              <a:buChar char="•"/>
            </a:pPr>
            <a:r>
              <a:rPr lang="en-US" b="true" sz="299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Chosen Approach</a:t>
            </a:r>
          </a:p>
          <a:p>
            <a:pPr algn="l" marL="647044" indent="-323522" lvl="1">
              <a:lnSpc>
                <a:spcPts val="4195"/>
              </a:lnSpc>
              <a:buFont typeface="Arial"/>
              <a:buChar char="•"/>
            </a:pPr>
            <a:r>
              <a:rPr lang="en-US" b="true" sz="299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Simple and interp</a:t>
            </a:r>
            <a:r>
              <a:rPr lang="en-US" b="true" sz="299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retabl</a:t>
            </a:r>
            <a:r>
              <a:rPr lang="en-US" b="true" sz="2996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e models suitable for real-time decision-making.</a:t>
            </a:r>
          </a:p>
          <a:p>
            <a:pPr algn="l">
              <a:lnSpc>
                <a:spcPts val="3495"/>
              </a:lnSpc>
            </a:pPr>
          </a:p>
          <a:p>
            <a:pPr algn="l">
              <a:lnSpc>
                <a:spcPts val="3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258" t="-5555" r="-24931" b="-7243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15874" y="830098"/>
            <a:ext cx="1628775" cy="1628775"/>
          </a:xfrm>
          <a:custGeom>
            <a:avLst/>
            <a:gdLst/>
            <a:ahLst/>
            <a:cxnLst/>
            <a:rect r="r" b="b" t="t" l="l"/>
            <a:pathLst>
              <a:path h="1628775" w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425748" y="467458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0"/>
                </a:lnTo>
                <a:lnTo>
                  <a:pt x="555524" y="558570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978948" y="4674583"/>
            <a:ext cx="555524" cy="558571"/>
          </a:xfrm>
          <a:custGeom>
            <a:avLst/>
            <a:gdLst/>
            <a:ahLst/>
            <a:cxnLst/>
            <a:rect r="r" b="b" t="t" l="l"/>
            <a:pathLst>
              <a:path h="558571" w="555524">
                <a:moveTo>
                  <a:pt x="555524" y="0"/>
                </a:moveTo>
                <a:lnTo>
                  <a:pt x="0" y="0"/>
                </a:lnTo>
                <a:lnTo>
                  <a:pt x="0" y="558570"/>
                </a:lnTo>
                <a:lnTo>
                  <a:pt x="555524" y="558570"/>
                </a:lnTo>
                <a:lnTo>
                  <a:pt x="5555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98639" y="-1028700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676" y="8682038"/>
            <a:ext cx="1152525" cy="1152525"/>
          </a:xfrm>
          <a:custGeom>
            <a:avLst/>
            <a:gdLst/>
            <a:ahLst/>
            <a:cxnLst/>
            <a:rect r="r" b="b" t="t" l="l"/>
            <a:pathLst>
              <a:path h="1152525" w="1152525">
                <a:moveTo>
                  <a:pt x="0" y="0"/>
                </a:moveTo>
                <a:lnTo>
                  <a:pt x="1152525" y="0"/>
                </a:lnTo>
                <a:lnTo>
                  <a:pt x="1152525" y="1152524"/>
                </a:lnTo>
                <a:lnTo>
                  <a:pt x="0" y="11525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5400000">
            <a:off x="16912965" y="5491807"/>
            <a:ext cx="1281112" cy="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8413" y="414646"/>
            <a:ext cx="16911174" cy="761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5"/>
              </a:lnSpc>
            </a:pPr>
            <a:r>
              <a:rPr lang="en-US" sz="4896" b="true">
                <a:solidFill>
                  <a:srgbClr val="893491"/>
                </a:solidFill>
                <a:latin typeface="Garet Bold"/>
                <a:ea typeface="Garet Bold"/>
                <a:cs typeface="Garet Bold"/>
                <a:sym typeface="Garet Bold"/>
              </a:rPr>
              <a:t>OPTIONAL </a:t>
            </a:r>
            <a:r>
              <a:rPr lang="en-US" sz="4896" b="true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WEARABLE EXTENSION (FUTURE SCOPE)</a:t>
            </a:r>
          </a:p>
          <a:p>
            <a:pPr algn="l">
              <a:lnSpc>
                <a:spcPts val="4335"/>
              </a:lnSpc>
            </a:pPr>
          </a:p>
          <a:p>
            <a:pPr algn="l">
              <a:lnSpc>
                <a:spcPts val="4755"/>
              </a:lnSpc>
            </a:pPr>
            <a:r>
              <a:rPr lang="en-US" sz="33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   </a:t>
            </a:r>
            <a:r>
              <a:rPr lang="en-US" sz="3396" b="true">
                <a:solidFill>
                  <a:srgbClr val="ED9AC2"/>
                </a:solidFill>
                <a:latin typeface="Garet Bold"/>
                <a:ea typeface="Garet Bold"/>
                <a:cs typeface="Garet Bold"/>
                <a:sym typeface="Garet Bold"/>
              </a:rPr>
              <a:t>Purpose</a:t>
            </a:r>
          </a:p>
          <a:p>
            <a:pPr algn="l" marL="495918" indent="-247959" lvl="1">
              <a:lnSpc>
                <a:spcPts val="3215"/>
              </a:lnSpc>
              <a:buFont typeface="Arial"/>
              <a:buChar char="•"/>
            </a:pPr>
            <a:r>
              <a:rPr lang="en-US" sz="22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The wearable component is proposed only as an optional</a:t>
            </a:r>
          </a:p>
          <a:p>
            <a:pPr algn="l" marL="495918" indent="-247959" lvl="1">
              <a:lnSpc>
                <a:spcPts val="3215"/>
              </a:lnSpc>
              <a:buFont typeface="Arial"/>
              <a:buChar char="•"/>
            </a:pPr>
            <a:r>
              <a:rPr lang="en-US" sz="22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 enhancement to improve detection accuracy in specific scenarios.</a:t>
            </a:r>
          </a:p>
          <a:p>
            <a:pPr algn="l" marL="495918" indent="-247959" lvl="1">
              <a:lnSpc>
                <a:spcPts val="3215"/>
              </a:lnSpc>
              <a:buFont typeface="Arial"/>
              <a:buChar char="•"/>
            </a:pPr>
            <a:r>
              <a:rPr lang="en-US" sz="22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Functionality</a:t>
            </a:r>
          </a:p>
          <a:p>
            <a:pPr algn="l" marL="495918" indent="-247959" lvl="1">
              <a:lnSpc>
                <a:spcPts val="3215"/>
              </a:lnSpc>
              <a:buFont typeface="Arial"/>
              <a:buChar char="•"/>
            </a:pPr>
            <a:r>
              <a:rPr lang="en-US" sz="22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Detects driver fatigue or inactivity</a:t>
            </a:r>
          </a:p>
          <a:p>
            <a:pPr algn="l" marL="495918" indent="-247959" lvl="1">
              <a:lnSpc>
                <a:spcPts val="3215"/>
              </a:lnSpc>
              <a:buFont typeface="Arial"/>
              <a:buChar char="•"/>
            </a:pPr>
            <a:r>
              <a:rPr lang="en-US" sz="22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Provides additional confirmation during accident detection</a:t>
            </a:r>
          </a:p>
          <a:p>
            <a:pPr algn="l" marL="495918" indent="-247959" lvl="1">
              <a:lnSpc>
                <a:spcPts val="3215"/>
              </a:lnSpc>
              <a:buFont typeface="Arial"/>
              <a:buChar char="•"/>
            </a:pPr>
            <a:r>
              <a:rPr lang="en-US" sz="22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Works only if the user is comfortable using it</a:t>
            </a:r>
          </a:p>
          <a:p>
            <a:pPr algn="l">
              <a:lnSpc>
                <a:spcPts val="4755"/>
              </a:lnSpc>
            </a:pPr>
            <a:r>
              <a:rPr lang="en-US" sz="33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   </a:t>
            </a:r>
            <a:r>
              <a:rPr lang="en-US" sz="3396" b="true">
                <a:solidFill>
                  <a:srgbClr val="ED9AC2"/>
                </a:solidFill>
                <a:latin typeface="Garet Bold"/>
                <a:ea typeface="Garet Bold"/>
                <a:cs typeface="Garet Bold"/>
                <a:sym typeface="Garet Bold"/>
              </a:rPr>
              <a:t>Key Clarification</a:t>
            </a:r>
          </a:p>
          <a:p>
            <a:pPr algn="l" marL="495918" indent="-247959" lvl="1">
              <a:lnSpc>
                <a:spcPts val="3215"/>
              </a:lnSpc>
              <a:buFont typeface="Arial"/>
              <a:buChar char="•"/>
            </a:pPr>
            <a:r>
              <a:rPr lang="en-US" sz="22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The system does NOT depend on wearables</a:t>
            </a:r>
          </a:p>
          <a:p>
            <a:pPr algn="l" marL="495918" indent="-247959" lvl="1">
              <a:lnSpc>
                <a:spcPts val="3215"/>
              </a:lnSpc>
              <a:buFont typeface="Arial"/>
              <a:buChar char="•"/>
            </a:pPr>
            <a:r>
              <a:rPr lang="en-US" sz="22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Core functionality works fully through the mobile/web application</a:t>
            </a:r>
          </a:p>
          <a:p>
            <a:pPr algn="l" marL="495918" indent="-247959" lvl="1">
              <a:lnSpc>
                <a:spcPts val="3215"/>
              </a:lnSpc>
              <a:buFont typeface="Arial"/>
              <a:buChar char="•"/>
            </a:pPr>
            <a:r>
              <a:rPr lang="en-US" sz="22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Wearable data is used only as supplementary input</a:t>
            </a:r>
          </a:p>
          <a:p>
            <a:pPr algn="l">
              <a:lnSpc>
                <a:spcPts val="4755"/>
              </a:lnSpc>
            </a:pPr>
            <a:r>
              <a:rPr lang="en-US" sz="33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396">
                <a:solidFill>
                  <a:srgbClr val="ED9AC2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396" b="true">
                <a:solidFill>
                  <a:srgbClr val="ED9AC2"/>
                </a:solidFill>
                <a:latin typeface="Garet Bold"/>
                <a:ea typeface="Garet Bold"/>
                <a:cs typeface="Garet Bold"/>
                <a:sym typeface="Garet Bold"/>
              </a:rPr>
              <a:t>Design Principle</a:t>
            </a:r>
          </a:p>
          <a:p>
            <a:pPr algn="l" marL="495918" indent="-247959" lvl="1">
              <a:lnSpc>
                <a:spcPts val="3215"/>
              </a:lnSpc>
              <a:buFont typeface="Arial"/>
              <a:buChar char="•"/>
            </a:pPr>
            <a:r>
              <a:rPr lang="en-US" sz="22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User comfort and accessibility are prioritized; </a:t>
            </a:r>
          </a:p>
          <a:p>
            <a:pPr algn="l" marL="495918" indent="-247959" lvl="1">
              <a:lnSpc>
                <a:spcPts val="3215"/>
              </a:lnSpc>
              <a:spcBef>
                <a:spcPct val="0"/>
              </a:spcBef>
              <a:buFont typeface="Arial"/>
              <a:buChar char="•"/>
            </a:pPr>
            <a:r>
              <a:rPr lang="en-US" sz="2296">
                <a:solidFill>
                  <a:srgbClr val="F6E0F5"/>
                </a:solidFill>
                <a:latin typeface="Garet"/>
                <a:ea typeface="Garet"/>
                <a:cs typeface="Garet"/>
                <a:sym typeface="Garet"/>
              </a:rPr>
              <a:t>no safety feature should be intrusive or compulsory.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56" t="0" r="-2479" b="-1848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15874" y="830098"/>
            <a:ext cx="1628775" cy="1628775"/>
          </a:xfrm>
          <a:custGeom>
            <a:avLst/>
            <a:gdLst/>
            <a:ahLst/>
            <a:cxnLst/>
            <a:rect r="r" b="b" t="t" l="l"/>
            <a:pathLst>
              <a:path h="1628775" w="1628775">
                <a:moveTo>
                  <a:pt x="0" y="0"/>
                </a:moveTo>
                <a:lnTo>
                  <a:pt x="1628775" y="0"/>
                </a:lnTo>
                <a:lnTo>
                  <a:pt x="1628775" y="1628775"/>
                </a:lnTo>
                <a:lnTo>
                  <a:pt x="0" y="162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91511" y="-891511"/>
            <a:ext cx="4240473" cy="4240473"/>
          </a:xfrm>
          <a:custGeom>
            <a:avLst/>
            <a:gdLst/>
            <a:ahLst/>
            <a:cxnLst/>
            <a:rect r="r" b="b" t="t" l="l"/>
            <a:pathLst>
              <a:path h="4240473" w="4240473">
                <a:moveTo>
                  <a:pt x="0" y="0"/>
                </a:moveTo>
                <a:lnTo>
                  <a:pt x="4240472" y="0"/>
                </a:lnTo>
                <a:lnTo>
                  <a:pt x="4240472" y="4240472"/>
                </a:lnTo>
                <a:lnTo>
                  <a:pt x="0" y="42404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5400000">
            <a:off x="16912965" y="5491807"/>
            <a:ext cx="1281112" cy="25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  <a:spcBef>
                <a:spcPct val="0"/>
              </a:spcBef>
            </a:pPr>
            <a:r>
              <a:rPr lang="en-US" sz="1449">
                <a:solidFill>
                  <a:srgbClr val="FEF0E1">
                    <a:alpha val="7882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page 15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99650" y="3188938"/>
            <a:ext cx="13102912" cy="2432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00"/>
              </a:lnSpc>
              <a:spcBef>
                <a:spcPct val="0"/>
              </a:spcBef>
            </a:pPr>
            <a:r>
              <a:rPr lang="en-US" b="true" sz="14214">
                <a:solidFill>
                  <a:srgbClr val="F6E0F5"/>
                </a:solidFill>
                <a:latin typeface="Garet Bold"/>
                <a:ea typeface="Garet Bold"/>
                <a:cs typeface="Garet Bold"/>
                <a:sym typeface="Garet Bold"/>
              </a:rPr>
              <a:t>THANK YOU!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691514" y="6933276"/>
            <a:ext cx="4240473" cy="4240473"/>
          </a:xfrm>
          <a:custGeom>
            <a:avLst/>
            <a:gdLst/>
            <a:ahLst/>
            <a:cxnLst/>
            <a:rect r="r" b="b" t="t" l="l"/>
            <a:pathLst>
              <a:path h="4240473" w="4240473">
                <a:moveTo>
                  <a:pt x="0" y="0"/>
                </a:moveTo>
                <a:lnTo>
                  <a:pt x="4240472" y="0"/>
                </a:lnTo>
                <a:lnTo>
                  <a:pt x="4240472" y="4240473"/>
                </a:lnTo>
                <a:lnTo>
                  <a:pt x="0" y="4240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DAHAoU57go0</dc:identifier>
  <dcterms:modified xsi:type="dcterms:W3CDTF">2011-08-01T06:04:30Z</dcterms:modified>
  <cp:revision>1</cp:revision>
  <dc:title>Purple Pink Gradient Modern Metaverse Presentation</dc:title>
</cp:coreProperties>
</file>